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Niveau de Sécurité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Avant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Chiffrement</c:v>
                  </c:pt>
                  <c:pt idx="1">
                    <c:v>WiFi</c:v>
                  </c:pt>
                  <c:pt idx="2">
                    <c:v>Pare-feu</c:v>
                  </c:pt>
                  <c:pt idx="3">
                    <c:v>IDS</c:v>
                  </c:pt>
                  <c:pt idx="4">
                    <c:v>Auth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</c:v>
                </c:pt>
                <c:pt idx="1">
                  <c:v>10</c:v>
                </c:pt>
                <c:pt idx="2">
                  <c:v>0</c:v>
                </c:pt>
                <c:pt idx="3">
                  <c:v>0</c:v>
                </c:pt>
                <c:pt idx="4">
                  <c:v>15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Après</c:v>
                </c:pt>
              </c:strCache>
            </c:strRef>
          </c:tx>
          <c:spPr>
            <a:solidFill>
              <a:srgbClr val="06D6A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Chiffrement</c:v>
                  </c:pt>
                  <c:pt idx="1">
                    <c:v>WiFi</c:v>
                  </c:pt>
                  <c:pt idx="2">
                    <c:v>Pare-feu</c:v>
                  </c:pt>
                  <c:pt idx="3">
                    <c:v>IDS</c:v>
                  </c:pt>
                  <c:pt idx="4">
                    <c:v>Auth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95</c:v>
                </c:pt>
                <c:pt idx="1">
                  <c:v>95</c:v>
                </c:pt>
                <c:pt idx="2">
                  <c:v>90</c:v>
                </c:pt>
                <c:pt idx="3">
                  <c:v>85</c:v>
                </c:pt>
                <c:pt idx="4">
                  <c:v>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29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– Page de garde. Présentez-vous (Feres et Mohammed), nommez votre encadrant, et annoncez le sujet : sécurité IoT industrielle simulée.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– Plan. Annoncez les 6 parties. Insistez sur la progression logique : théorie → outils → réalisation → attaque → sécurisation → résultats.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– Contexte. Citez les 15 milliards d'objets IoT et l'explosion des cyberattaques. Insistez sur les 4 vulnérabilités clés. Annoncez votre objectif de projet.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– Outils. Expliquez brièvement chaque outil. Cisco Packet Tracer pour simuler, Wireshark pour analyser, Kali Linux pour attaquer, Snort pour protéger.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– Architecture. Expliquez les 2 sous-réseaux (WiFi 192.168.1.x et LAN 192.168.2.x). Mentionnez le test ping 100% réussi qui valide la configuration.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 – Attaque. Montrez la capture Wireshark. Insistez sur les lignes rouges : le mot de passe admin/iot123 est visible EN CLAIR. C'est le cœur de votre démonstration de sécurité.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 – Solutions. Présentez les 4 couches de sécurité. Insistez sur TLS : la même capture Wireshark montre maintenant des données chiffrées, illisibles pour un attaquant.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 – Résultats. Le graphique montre clairement le saut de sécurité. Commentez chaque ligne du tableau. Insistez : le réseau est passé de CRITIQUE à FAIBLE risque.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9 – Conclusion. Résumez les 5 accomplissements. Remerciez le jury. Préparez-vous aux questions : protocoles utilisés, commandes Cisco, résultats Wireshark avant/après.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10 – Fin. Remerciez le jury chaleureusement. Montrez que vous êtes prêts pour les questions sur les 3 thèmes : technique, sécurité, perspectives.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image" Target="../media/image-4-18.png"/><Relationship Id="rId19" Type="http://schemas.openxmlformats.org/officeDocument/2006/relationships/image" Target="../media/image-4-19.png"/><Relationship Id="rId20" Type="http://schemas.openxmlformats.org/officeDocument/2006/relationships/image" Target="../media/image-4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image" Target="../media/image-7-17.png"/><Relationship Id="rId18" Type="http://schemas.openxmlformats.org/officeDocument/2006/relationships/image" Target="../media/image-7-18.png"/><Relationship Id="rId19" Type="http://schemas.openxmlformats.org/officeDocument/2006/relationships/image" Target="../media/image-7-19.png"/><Relationship Id="rId20" Type="http://schemas.openxmlformats.org/officeDocument/2006/relationships/image" Target="../media/image-7-20.png"/><Relationship Id="rId21" Type="http://schemas.openxmlformats.org/officeDocument/2006/relationships/image" Target="../media/image-7-21.png"/><Relationship Id="rId22" Type="http://schemas.openxmlformats.org/officeDocument/2006/relationships/image" Target="../media/image-7-22.pn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0" y="4114800"/>
            <a:ext cx="2743200" cy="2743200"/>
          </a:xfrm>
          <a:prstGeom prst="ellipse">
            <a:avLst/>
          </a:prstGeom>
          <a:solidFill>
            <a:srgbClr val="0E5FA3">
              <a:alpha val="20000"/>
            </a:srgbClr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0" y="4572000"/>
            <a:ext cx="1828800" cy="1828800"/>
          </a:xfrm>
          <a:prstGeom prst="ellipse">
            <a:avLst/>
          </a:prstGeom>
          <a:solidFill>
            <a:srgbClr val="00C2FF">
              <a:alpha val="10000"/>
            </a:srgbClr>
          </a:solidFill>
          <a:ln w="12700">
            <a:solidFill>
              <a:srgbClr val="00C2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1005840" cy="1005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3200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 DES NOUVELLES TECHNOLOGIES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65760" y="65836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BTS Réseaux et Sécurité Informatique  •  Session 2025–2026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65760" y="1005840"/>
            <a:ext cx="3931920" cy="27432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9" name="Text 6"/>
          <p:cNvSpPr/>
          <p:nvPr/>
        </p:nvSpPr>
        <p:spPr>
          <a:xfrm>
            <a:off x="365760" y="118872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Conception et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365760" y="173736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C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Sécurisation d'une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365760" y="228600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IoT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365760" y="283464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C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Industrielle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365760" y="36118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de Fin d'Études — Simulation &amp; Cybersécurité IoT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65760" y="4114800"/>
            <a:ext cx="3931920" cy="274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Text 12"/>
          <p:cNvSpPr/>
          <p:nvPr/>
        </p:nvSpPr>
        <p:spPr>
          <a:xfrm>
            <a:off x="365760" y="42519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Réalisé par :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65760" y="450799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Feres Elloumi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&amp;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Smadhi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65760" y="48920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Encadrant : Mr/Mme Abdslem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120640" y="365760"/>
            <a:ext cx="6400800" cy="6035040"/>
          </a:xfrm>
          <a:prstGeom prst="roundRect">
            <a:avLst>
              <a:gd name="adj" fmla="val 2273"/>
            </a:avLst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5303520" y="50292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IoT Simulée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349240" y="1051560"/>
            <a:ext cx="5760720" cy="749808"/>
          </a:xfrm>
          <a:prstGeom prst="roundRect">
            <a:avLst>
              <a:gd name="adj" fmla="val 9756"/>
            </a:avLst>
          </a:prstGeom>
          <a:solidFill>
            <a:srgbClr val="0A1628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188720"/>
            <a:ext cx="457200" cy="45720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035040" y="111556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Thermostat IoT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6035040" y="143560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192.168.1.10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9326880" y="1234440"/>
            <a:ext cx="1463040" cy="365760"/>
          </a:xfrm>
          <a:prstGeom prst="rect">
            <a:avLst/>
          </a:prstGeom>
          <a:solidFill>
            <a:srgbClr val="00C2FF">
              <a:alpha val="20000"/>
            </a:srgbClr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9326880" y="12344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ACTIF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8183880" y="1801368"/>
            <a:ext cx="0" cy="210312"/>
          </a:xfrm>
          <a:prstGeom prst="line">
            <a:avLst/>
          </a:prstGeom>
          <a:noFill/>
          <a:ln w="19050">
            <a:solidFill>
              <a:srgbClr val="00C2FF"/>
            </a:solidFill>
            <a:prstDash val="sysDot"/>
          </a:ln>
        </p:spPr>
      </p:sp>
      <p:sp>
        <p:nvSpPr>
          <p:cNvPr id="27" name="Shape 23"/>
          <p:cNvSpPr/>
          <p:nvPr/>
        </p:nvSpPr>
        <p:spPr>
          <a:xfrm>
            <a:off x="5349240" y="2011680"/>
            <a:ext cx="5760720" cy="749808"/>
          </a:xfrm>
          <a:prstGeom prst="roundRect">
            <a:avLst>
              <a:gd name="adj" fmla="val 9756"/>
            </a:avLst>
          </a:prstGeom>
          <a:solidFill>
            <a:srgbClr val="0A1628"/>
          </a:solidFill>
          <a:ln/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2148840"/>
            <a:ext cx="457200" cy="45720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035040" y="207568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Gateway</a:t>
            </a:r>
            <a:endParaRPr lang="en-US" sz="1300" dirty="0"/>
          </a:p>
        </p:txBody>
      </p:sp>
      <p:sp>
        <p:nvSpPr>
          <p:cNvPr id="30" name="Text 25"/>
          <p:cNvSpPr/>
          <p:nvPr/>
        </p:nvSpPr>
        <p:spPr>
          <a:xfrm>
            <a:off x="6035040" y="23957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192.168.1.1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9326880" y="2194560"/>
            <a:ext cx="1463040" cy="365760"/>
          </a:xfrm>
          <a:prstGeom prst="rect">
            <a:avLst/>
          </a:prstGeom>
          <a:solidFill>
            <a:srgbClr val="0891B2">
              <a:alpha val="2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9326880" y="21945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ACTIF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8183880" y="2761488"/>
            <a:ext cx="0" cy="210312"/>
          </a:xfrm>
          <a:prstGeom prst="line">
            <a:avLst/>
          </a:prstGeom>
          <a:noFill/>
          <a:ln w="19050">
            <a:solidFill>
              <a:srgbClr val="00C2FF"/>
            </a:solidFill>
            <a:prstDash val="sysDot"/>
          </a:ln>
        </p:spPr>
      </p:sp>
      <p:sp>
        <p:nvSpPr>
          <p:cNvPr id="34" name="Shape 29"/>
          <p:cNvSpPr/>
          <p:nvPr/>
        </p:nvSpPr>
        <p:spPr>
          <a:xfrm>
            <a:off x="5349240" y="2971800"/>
            <a:ext cx="5760720" cy="749808"/>
          </a:xfrm>
          <a:prstGeom prst="roundRect">
            <a:avLst>
              <a:gd name="adj" fmla="val 9756"/>
            </a:avLst>
          </a:prstGeom>
          <a:solidFill>
            <a:srgbClr val="0A1628"/>
          </a:solidFill>
          <a:ln/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3108960"/>
            <a:ext cx="457200" cy="45720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6035040" y="303580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Routeur Cisco</a:t>
            </a:r>
            <a:endParaRPr lang="en-US" sz="1300" dirty="0"/>
          </a:p>
        </p:txBody>
      </p:sp>
      <p:sp>
        <p:nvSpPr>
          <p:cNvPr id="37" name="Text 31"/>
          <p:cNvSpPr/>
          <p:nvPr/>
        </p:nvSpPr>
        <p:spPr>
          <a:xfrm>
            <a:off x="6035040" y="33558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192.168.1.254</a:t>
            </a:r>
            <a:endParaRPr lang="en-US" sz="1100" dirty="0"/>
          </a:p>
        </p:txBody>
      </p:sp>
      <p:sp>
        <p:nvSpPr>
          <p:cNvPr id="38" name="Shape 32"/>
          <p:cNvSpPr/>
          <p:nvPr/>
        </p:nvSpPr>
        <p:spPr>
          <a:xfrm>
            <a:off x="9326880" y="3154680"/>
            <a:ext cx="1463040" cy="365760"/>
          </a:xfrm>
          <a:prstGeom prst="rect">
            <a:avLst/>
          </a:prstGeom>
          <a:solidFill>
            <a:srgbClr val="0E5FA3">
              <a:alpha val="20000"/>
            </a:srgbClr>
          </a:solidFill>
          <a:ln w="12700">
            <a:solidFill>
              <a:srgbClr val="0E5FA3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9326880" y="31546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ACTIF</a:t>
            </a:r>
            <a:endParaRPr lang="en-US" sz="900" dirty="0"/>
          </a:p>
        </p:txBody>
      </p:sp>
      <p:sp>
        <p:nvSpPr>
          <p:cNvPr id="40" name="Shape 34"/>
          <p:cNvSpPr/>
          <p:nvPr/>
        </p:nvSpPr>
        <p:spPr>
          <a:xfrm>
            <a:off x="8183880" y="3721608"/>
            <a:ext cx="0" cy="210312"/>
          </a:xfrm>
          <a:prstGeom prst="line">
            <a:avLst/>
          </a:prstGeom>
          <a:noFill/>
          <a:ln w="19050">
            <a:solidFill>
              <a:srgbClr val="00C2FF"/>
            </a:solidFill>
            <a:prstDash val="sysDot"/>
          </a:ln>
        </p:spPr>
      </p:sp>
      <p:sp>
        <p:nvSpPr>
          <p:cNvPr id="41" name="Shape 35"/>
          <p:cNvSpPr/>
          <p:nvPr/>
        </p:nvSpPr>
        <p:spPr>
          <a:xfrm>
            <a:off x="5349240" y="3931920"/>
            <a:ext cx="5760720" cy="749808"/>
          </a:xfrm>
          <a:prstGeom prst="roundRect">
            <a:avLst>
              <a:gd name="adj" fmla="val 9756"/>
            </a:avLst>
          </a:prstGeom>
          <a:solidFill>
            <a:srgbClr val="0A1628"/>
          </a:solidFill>
          <a:ln/>
        </p:spPr>
      </p:sp>
      <p:pic>
        <p:nvPicPr>
          <p:cNvPr id="4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4069080"/>
            <a:ext cx="457200" cy="457200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6035040" y="399592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Serveur</a:t>
            </a:r>
            <a:endParaRPr lang="en-US" sz="1300" dirty="0"/>
          </a:p>
        </p:txBody>
      </p:sp>
      <p:sp>
        <p:nvSpPr>
          <p:cNvPr id="44" name="Text 37"/>
          <p:cNvSpPr/>
          <p:nvPr/>
        </p:nvSpPr>
        <p:spPr>
          <a:xfrm>
            <a:off x="6035040" y="43159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192.168.2.1</a:t>
            </a:r>
            <a:endParaRPr lang="en-US" sz="1100" dirty="0"/>
          </a:p>
        </p:txBody>
      </p:sp>
      <p:sp>
        <p:nvSpPr>
          <p:cNvPr id="45" name="Shape 38"/>
          <p:cNvSpPr/>
          <p:nvPr/>
        </p:nvSpPr>
        <p:spPr>
          <a:xfrm>
            <a:off x="9326880" y="4114800"/>
            <a:ext cx="1463040" cy="365760"/>
          </a:xfrm>
          <a:prstGeom prst="rect">
            <a:avLst/>
          </a:prstGeom>
          <a:solidFill>
            <a:srgbClr val="06D6A0">
              <a:alpha val="20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6" name="Text 39"/>
          <p:cNvSpPr/>
          <p:nvPr/>
        </p:nvSpPr>
        <p:spPr>
          <a:xfrm>
            <a:off x="9326880" y="41148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ACTIF</a:t>
            </a:r>
            <a:endParaRPr lang="en-US" sz="900" dirty="0"/>
          </a:p>
        </p:txBody>
      </p:sp>
      <p:sp>
        <p:nvSpPr>
          <p:cNvPr id="47" name="Shape 40"/>
          <p:cNvSpPr/>
          <p:nvPr/>
        </p:nvSpPr>
        <p:spPr>
          <a:xfrm>
            <a:off x="8183880" y="4681728"/>
            <a:ext cx="0" cy="210312"/>
          </a:xfrm>
          <a:prstGeom prst="line">
            <a:avLst/>
          </a:prstGeom>
          <a:noFill/>
          <a:ln w="19050">
            <a:solidFill>
              <a:srgbClr val="00C2FF"/>
            </a:solidFill>
            <a:prstDash val="sysDot"/>
          </a:ln>
        </p:spPr>
      </p:sp>
      <p:sp>
        <p:nvSpPr>
          <p:cNvPr id="48" name="Shape 41"/>
          <p:cNvSpPr/>
          <p:nvPr/>
        </p:nvSpPr>
        <p:spPr>
          <a:xfrm>
            <a:off x="5349240" y="4892040"/>
            <a:ext cx="5760720" cy="749808"/>
          </a:xfrm>
          <a:prstGeom prst="roundRect">
            <a:avLst>
              <a:gd name="adj" fmla="val 9756"/>
            </a:avLst>
          </a:prstGeom>
          <a:solidFill>
            <a:srgbClr val="0A1628"/>
          </a:solidFill>
          <a:ln/>
        </p:spPr>
      </p:sp>
      <p:pic>
        <p:nvPicPr>
          <p:cNvPr id="4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0" y="5029200"/>
            <a:ext cx="457200" cy="457200"/>
          </a:xfrm>
          <a:prstGeom prst="rect">
            <a:avLst/>
          </a:prstGeom>
        </p:spPr>
      </p:pic>
      <p:sp>
        <p:nvSpPr>
          <p:cNvPr id="50" name="Text 42"/>
          <p:cNvSpPr/>
          <p:nvPr/>
        </p:nvSpPr>
        <p:spPr>
          <a:xfrm>
            <a:off x="6035040" y="495604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Admin</a:t>
            </a:r>
            <a:endParaRPr lang="en-US" sz="1300" dirty="0"/>
          </a:p>
        </p:txBody>
      </p:sp>
      <p:sp>
        <p:nvSpPr>
          <p:cNvPr id="51" name="Text 43"/>
          <p:cNvSpPr/>
          <p:nvPr/>
        </p:nvSpPr>
        <p:spPr>
          <a:xfrm>
            <a:off x="6035040" y="527608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192.168.2.10</a:t>
            </a:r>
            <a:endParaRPr lang="en-US" sz="1100" dirty="0"/>
          </a:p>
        </p:txBody>
      </p:sp>
      <p:sp>
        <p:nvSpPr>
          <p:cNvPr id="52" name="Shape 44"/>
          <p:cNvSpPr/>
          <p:nvPr/>
        </p:nvSpPr>
        <p:spPr>
          <a:xfrm>
            <a:off x="9326880" y="5074920"/>
            <a:ext cx="1463040" cy="365760"/>
          </a:xfrm>
          <a:prstGeom prst="rect">
            <a:avLst/>
          </a:prstGeom>
          <a:solidFill>
            <a:srgbClr val="F4A261">
              <a:alpha val="20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3" name="Text 45"/>
          <p:cNvSpPr/>
          <p:nvPr/>
        </p:nvSpPr>
        <p:spPr>
          <a:xfrm>
            <a:off x="9326880" y="50749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ACTIF</a:t>
            </a:r>
            <a:endParaRPr lang="en-US" sz="900" dirty="0"/>
          </a:p>
        </p:txBody>
      </p:sp>
      <p:sp>
        <p:nvSpPr>
          <p:cNvPr id="54" name="Shape 46"/>
          <p:cNvSpPr/>
          <p:nvPr/>
        </p:nvSpPr>
        <p:spPr>
          <a:xfrm>
            <a:off x="5349240" y="5989320"/>
            <a:ext cx="5760720" cy="320040"/>
          </a:xfrm>
          <a:prstGeom prst="roundRect">
            <a:avLst>
              <a:gd name="adj" fmla="val 22857"/>
            </a:avLst>
          </a:prstGeom>
          <a:solidFill>
            <a:srgbClr val="0E5FA3"/>
          </a:solidFill>
          <a:ln/>
        </p:spPr>
      </p:sp>
      <p:sp>
        <p:nvSpPr>
          <p:cNvPr id="55" name="Text 47"/>
          <p:cNvSpPr/>
          <p:nvPr/>
        </p:nvSpPr>
        <p:spPr>
          <a:xfrm>
            <a:off x="5349240" y="598932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Packet Tracer  ·  Wireshark  ·  Kali Linux  ·  Snort IDS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0A162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685800" cy="685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914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LA PRÉSENTATION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097280" y="62179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d'ensemble du projet — 6 parties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320040" y="1325880"/>
            <a:ext cx="370332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2606040" y="141732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600" b="1" dirty="0">
                <a:solidFill>
                  <a:srgbClr val="0E5FA3">
                    <a:alpha val="1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5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54480"/>
            <a:ext cx="594360" cy="59436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57200" y="1508760"/>
            <a:ext cx="685800" cy="685800"/>
          </a:xfrm>
          <a:prstGeom prst="ellipse">
            <a:avLst/>
          </a:prstGeom>
          <a:solidFill>
            <a:srgbClr val="0E5FA3">
              <a:alpha val="12000"/>
            </a:srgbClr>
          </a:solidFill>
          <a:ln/>
        </p:spPr>
      </p:sp>
      <p:sp>
        <p:nvSpPr>
          <p:cNvPr id="10" name="Text 6"/>
          <p:cNvSpPr/>
          <p:nvPr/>
        </p:nvSpPr>
        <p:spPr>
          <a:xfrm>
            <a:off x="502920" y="233172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 &amp; Problématique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02920" y="297180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sécuriser l'IoT ?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251960" y="1325880"/>
            <a:ext cx="370332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6537960" y="141732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600" b="1" dirty="0">
                <a:solidFill>
                  <a:srgbClr val="0891B2">
                    <a:alpha val="1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56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554480"/>
            <a:ext cx="594360" cy="59436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4389120" y="1508760"/>
            <a:ext cx="685800" cy="685800"/>
          </a:xfrm>
          <a:prstGeom prst="ellipse">
            <a:avLst/>
          </a:prstGeom>
          <a:solidFill>
            <a:srgbClr val="0891B2">
              <a:alpha val="12000"/>
            </a:srgbClr>
          </a:solidFill>
          <a:ln/>
        </p:spPr>
      </p:sp>
      <p:sp>
        <p:nvSpPr>
          <p:cNvPr id="16" name="Text 11"/>
          <p:cNvSpPr/>
          <p:nvPr/>
        </p:nvSpPr>
        <p:spPr>
          <a:xfrm>
            <a:off x="4434840" y="233172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Outils &amp; Technologies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4434840" y="297180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Cisco, Wireshark, Kali, Snort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8183880" y="1325880"/>
            <a:ext cx="370332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10469880" y="141732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600" b="1" dirty="0">
                <a:solidFill>
                  <a:srgbClr val="065A82">
                    <a:alpha val="1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56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1554480"/>
            <a:ext cx="594360" cy="59436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8321040" y="1508760"/>
            <a:ext cx="685800" cy="685800"/>
          </a:xfrm>
          <a:prstGeom prst="ellipse">
            <a:avLst/>
          </a:prstGeom>
          <a:solidFill>
            <a:srgbClr val="065A82">
              <a:alpha val="12000"/>
            </a:srgbClr>
          </a:solidFill>
          <a:ln/>
        </p:spPr>
      </p:sp>
      <p:sp>
        <p:nvSpPr>
          <p:cNvPr id="22" name="Text 16"/>
          <p:cNvSpPr/>
          <p:nvPr/>
        </p:nvSpPr>
        <p:spPr>
          <a:xfrm>
            <a:off x="8366760" y="233172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Réalisée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8366760" y="297180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Topologie réseau IoT simulée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320040" y="3886200"/>
            <a:ext cx="370332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2606040" y="397764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600" b="1" dirty="0">
                <a:solidFill>
                  <a:srgbClr val="E63946">
                    <a:alpha val="1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560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4114800"/>
            <a:ext cx="594360" cy="594360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457200" y="4069080"/>
            <a:ext cx="685800" cy="685800"/>
          </a:xfrm>
          <a:prstGeom prst="ellipse">
            <a:avLst/>
          </a:prstGeom>
          <a:solidFill>
            <a:srgbClr val="E63946">
              <a:alpha val="12000"/>
            </a:srgbClr>
          </a:solidFill>
          <a:ln/>
        </p:spPr>
      </p:sp>
      <p:sp>
        <p:nvSpPr>
          <p:cNvPr id="28" name="Text 21"/>
          <p:cNvSpPr/>
          <p:nvPr/>
        </p:nvSpPr>
        <p:spPr>
          <a:xfrm>
            <a:off x="502920" y="489204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Démonstration d'Attaque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502920" y="553212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Sniffing &amp; analyse Wireshark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4251960" y="3886200"/>
            <a:ext cx="370332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1" name="Text 24"/>
          <p:cNvSpPr/>
          <p:nvPr/>
        </p:nvSpPr>
        <p:spPr>
          <a:xfrm>
            <a:off x="6537960" y="397764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600" b="1" dirty="0">
                <a:solidFill>
                  <a:srgbClr val="06D6A0">
                    <a:alpha val="1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5600" dirty="0"/>
          </a:p>
        </p:txBody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4840" y="4114800"/>
            <a:ext cx="594360" cy="594360"/>
          </a:xfrm>
          <a:prstGeom prst="rect">
            <a:avLst/>
          </a:prstGeom>
        </p:spPr>
      </p:pic>
      <p:sp>
        <p:nvSpPr>
          <p:cNvPr id="33" name="Shape 25"/>
          <p:cNvSpPr/>
          <p:nvPr/>
        </p:nvSpPr>
        <p:spPr>
          <a:xfrm>
            <a:off x="4389120" y="4069080"/>
            <a:ext cx="685800" cy="685800"/>
          </a:xfrm>
          <a:prstGeom prst="ellipse">
            <a:avLst/>
          </a:prstGeom>
          <a:solidFill>
            <a:srgbClr val="06D6A0">
              <a:alpha val="12000"/>
            </a:srgbClr>
          </a:solidFill>
          <a:ln/>
        </p:spPr>
      </p:sp>
      <p:sp>
        <p:nvSpPr>
          <p:cNvPr id="34" name="Text 26"/>
          <p:cNvSpPr/>
          <p:nvPr/>
        </p:nvSpPr>
        <p:spPr>
          <a:xfrm>
            <a:off x="4434840" y="489204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Solutions de Sécurité</a:t>
            </a:r>
            <a:endParaRPr lang="en-US" sz="1400" dirty="0"/>
          </a:p>
        </p:txBody>
      </p:sp>
      <p:sp>
        <p:nvSpPr>
          <p:cNvPr id="35" name="Text 27"/>
          <p:cNvSpPr/>
          <p:nvPr/>
        </p:nvSpPr>
        <p:spPr>
          <a:xfrm>
            <a:off x="4434840" y="553212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TLS, WPA2, Pare-feu, Snort</a:t>
            </a:r>
            <a:endParaRPr lang="en-US" sz="1100" dirty="0"/>
          </a:p>
        </p:txBody>
      </p:sp>
      <p:sp>
        <p:nvSpPr>
          <p:cNvPr id="36" name="Shape 28"/>
          <p:cNvSpPr/>
          <p:nvPr/>
        </p:nvSpPr>
        <p:spPr>
          <a:xfrm>
            <a:off x="8183880" y="3886200"/>
            <a:ext cx="370332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7" name="Text 29"/>
          <p:cNvSpPr/>
          <p:nvPr/>
        </p:nvSpPr>
        <p:spPr>
          <a:xfrm>
            <a:off x="10469880" y="397764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600" b="1" dirty="0">
                <a:solidFill>
                  <a:srgbClr val="F4A261">
                    <a:alpha val="1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5600" dirty="0"/>
          </a:p>
        </p:txBody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6760" y="4114800"/>
            <a:ext cx="594360" cy="594360"/>
          </a:xfrm>
          <a:prstGeom prst="rect">
            <a:avLst/>
          </a:prstGeom>
        </p:spPr>
      </p:pic>
      <p:sp>
        <p:nvSpPr>
          <p:cNvPr id="39" name="Shape 30"/>
          <p:cNvSpPr/>
          <p:nvPr/>
        </p:nvSpPr>
        <p:spPr>
          <a:xfrm>
            <a:off x="8321040" y="4069080"/>
            <a:ext cx="685800" cy="685800"/>
          </a:xfrm>
          <a:prstGeom prst="ellipse">
            <a:avLst/>
          </a:prstGeom>
          <a:solidFill>
            <a:srgbClr val="F4A261">
              <a:alpha val="12000"/>
            </a:srgbClr>
          </a:solidFill>
          <a:ln/>
        </p:spPr>
      </p:sp>
      <p:sp>
        <p:nvSpPr>
          <p:cNvPr id="40" name="Text 31"/>
          <p:cNvSpPr/>
          <p:nvPr/>
        </p:nvSpPr>
        <p:spPr>
          <a:xfrm>
            <a:off x="8366760" y="489204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Résultats &amp; Conclusion</a:t>
            </a:r>
            <a:endParaRPr lang="en-US" sz="1400" dirty="0"/>
          </a:p>
        </p:txBody>
      </p:sp>
      <p:sp>
        <p:nvSpPr>
          <p:cNvPr id="41" name="Text 32"/>
          <p:cNvSpPr/>
          <p:nvPr/>
        </p:nvSpPr>
        <p:spPr>
          <a:xfrm>
            <a:off x="8366760" y="553212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avant / après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9144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5FA3">
                    <a:alpha val="4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371600" y="1371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 &amp; PROBLÉMATIQUE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400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sécuriser les réseaux IoT industriels ?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3474720" cy="5212080"/>
          </a:xfrm>
          <a:prstGeom prst="roundRect">
            <a:avLst>
              <a:gd name="adj" fmla="val 3947"/>
            </a:avLst>
          </a:prstGeom>
          <a:solidFill>
            <a:srgbClr val="112240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37160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C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Md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274320" y="23317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d'objets IoT connectés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mondialament en 2024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971800"/>
            <a:ext cx="2560320" cy="274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310896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Md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74320" y="391363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prévus d'ici 2030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4343400"/>
            <a:ext cx="2560320" cy="2743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448056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+ 300 %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274320" y="52578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d'attaques IoT en 5 ans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(ENISA 2023)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023360" y="1234440"/>
            <a:ext cx="7863840" cy="1170432"/>
          </a:xfrm>
          <a:prstGeom prst="roundRect">
            <a:avLst>
              <a:gd name="adj" fmla="val 7813"/>
            </a:avLst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0" y="1527048"/>
            <a:ext cx="502920" cy="50292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4892040" y="1325880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Protocoles non sécurisés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892040" y="1737360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HTTP, Telnet, FTP – données en clair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023360" y="2560320"/>
            <a:ext cx="7863840" cy="1170432"/>
          </a:xfrm>
          <a:prstGeom prst="roundRect">
            <a:avLst>
              <a:gd name="adj" fmla="val 7813"/>
            </a:avLst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2852928"/>
            <a:ext cx="502920" cy="50292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892040" y="2651760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Mots de passe par défaut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4892040" y="3063240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Identifiants usine jamais modifiés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4023360" y="3886200"/>
            <a:ext cx="7863840" cy="1170432"/>
          </a:xfrm>
          <a:prstGeom prst="roundRect">
            <a:avLst>
              <a:gd name="adj" fmla="val 7813"/>
            </a:avLst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4178808"/>
            <a:ext cx="502920" cy="50292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892040" y="3977640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de chiffrement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4892040" y="4389120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Trafic interceptable par sniffing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4023360" y="5212080"/>
            <a:ext cx="7863840" cy="1170432"/>
          </a:xfrm>
          <a:prstGeom prst="roundRect">
            <a:avLst>
              <a:gd name="adj" fmla="val 7813"/>
            </a:avLst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5504688"/>
            <a:ext cx="502920" cy="50292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4892040" y="5303520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segmentation réseau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4892040" y="5715000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Propagation libre des attaques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4023360" y="6446520"/>
            <a:ext cx="7863840" cy="347472"/>
          </a:xfrm>
          <a:prstGeom prst="roundRect">
            <a:avLst>
              <a:gd name="adj" fmla="val 21053"/>
            </a:avLst>
          </a:prstGeom>
          <a:solidFill>
            <a:srgbClr val="0E5FA3"/>
          </a:solidFill>
          <a:ln/>
        </p:spPr>
      </p:sp>
      <p:sp>
        <p:nvSpPr>
          <p:cNvPr id="32" name="Text 26"/>
          <p:cNvSpPr/>
          <p:nvPr/>
        </p:nvSpPr>
        <p:spPr>
          <a:xfrm>
            <a:off x="4023360" y="6446520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Objectif : Simuler, attaquer, sécuriser une architecture IoT industrielle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9144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5FA3">
                    <a:alpha val="4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371600" y="1371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OUTILS &amp; TECHNOLOGIES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400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outils professionnels de référence en cybersécurité réseau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2788920" cy="534924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88720"/>
            <a:ext cx="2788920" cy="1280160"/>
          </a:xfrm>
          <a:prstGeom prst="roundRect">
            <a:avLst>
              <a:gd name="adj" fmla="val 8571"/>
            </a:avLst>
          </a:prstGeom>
          <a:solidFill>
            <a:srgbClr val="0E5FA3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1920240"/>
            <a:ext cx="2788920" cy="548640"/>
          </a:xfrm>
          <a:prstGeom prst="rect">
            <a:avLst/>
          </a:prstGeom>
          <a:solidFill>
            <a:srgbClr val="0E5FA3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280160"/>
            <a:ext cx="594360" cy="5943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65760" y="190195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Packet Tracer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22960" y="2423160"/>
            <a:ext cx="1691640" cy="274320"/>
          </a:xfrm>
          <a:prstGeom prst="roundRect">
            <a:avLst>
              <a:gd name="adj" fmla="val 20000"/>
            </a:avLst>
          </a:prstGeom>
          <a:solidFill>
            <a:srgbClr val="0E5FA3">
              <a:alpha val="2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242316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v8.2</a:t>
            </a:r>
            <a:endParaRPr lang="en-US" sz="9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2880360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49808" y="283464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réseau complète</a:t>
            </a:r>
            <a:endParaRPr lang="en-US" sz="10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3538728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49808" y="349300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Équipements Cisco virtuels</a:t>
            </a:r>
            <a:endParaRPr lang="en-US" sz="10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4197096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49808" y="4151376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objets IoT</a:t>
            </a:r>
            <a:endParaRPr lang="en-US" sz="10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" y="4855464"/>
            <a:ext cx="256032" cy="25603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49808" y="4809744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identique au réel</a:t>
            </a:r>
            <a:endParaRPr lang="en-US" sz="1050" dirty="0"/>
          </a:p>
        </p:txBody>
      </p:sp>
      <p:sp>
        <p:nvSpPr>
          <p:cNvPr id="21" name="Shape 14"/>
          <p:cNvSpPr/>
          <p:nvPr/>
        </p:nvSpPr>
        <p:spPr>
          <a:xfrm>
            <a:off x="3200400" y="1188720"/>
            <a:ext cx="2788920" cy="534924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3200400" y="1188720"/>
            <a:ext cx="2788920" cy="1280160"/>
          </a:xfrm>
          <a:prstGeom prst="roundRect">
            <a:avLst>
              <a:gd name="adj" fmla="val 8571"/>
            </a:avLst>
          </a:prstGeom>
          <a:solidFill>
            <a:srgbClr val="0891B2"/>
          </a:solidFill>
          <a:ln/>
        </p:spPr>
      </p:sp>
      <p:sp>
        <p:nvSpPr>
          <p:cNvPr id="23" name="Shape 16"/>
          <p:cNvSpPr/>
          <p:nvPr/>
        </p:nvSpPr>
        <p:spPr>
          <a:xfrm>
            <a:off x="3200400" y="1920240"/>
            <a:ext cx="2788920" cy="54864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7680" y="1280160"/>
            <a:ext cx="594360" cy="59436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3291840" y="190195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Wireshark</a:t>
            </a:r>
            <a:endParaRPr lang="en-US" sz="1200" dirty="0"/>
          </a:p>
        </p:txBody>
      </p:sp>
      <p:sp>
        <p:nvSpPr>
          <p:cNvPr id="26" name="Shape 18"/>
          <p:cNvSpPr/>
          <p:nvPr/>
        </p:nvSpPr>
        <p:spPr>
          <a:xfrm>
            <a:off x="3749040" y="2423160"/>
            <a:ext cx="1691640" cy="274320"/>
          </a:xfrm>
          <a:prstGeom prst="roundRect">
            <a:avLst>
              <a:gd name="adj" fmla="val 20000"/>
            </a:avLst>
          </a:prstGeom>
          <a:solidFill>
            <a:srgbClr val="0891B2">
              <a:alpha val="20000"/>
            </a:srgbClr>
          </a:solidFill>
          <a:ln/>
        </p:spPr>
      </p:sp>
      <p:sp>
        <p:nvSpPr>
          <p:cNvPr id="27" name="Text 19"/>
          <p:cNvSpPr/>
          <p:nvPr/>
        </p:nvSpPr>
        <p:spPr>
          <a:xfrm>
            <a:off x="3749040" y="242316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v4.0</a:t>
            </a:r>
            <a:endParaRPr lang="en-US" sz="900" dirty="0"/>
          </a:p>
        </p:txBody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4992" y="2880360"/>
            <a:ext cx="256032" cy="256032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675888" y="283464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de paquets réseau</a:t>
            </a:r>
            <a:endParaRPr lang="en-US" sz="1050" dirty="0"/>
          </a:p>
        </p:txBody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64992" y="3538728"/>
            <a:ext cx="256032" cy="256032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3675888" y="349300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&gt; 3000 protocoles</a:t>
            </a:r>
            <a:endParaRPr lang="en-US" sz="1050" dirty="0"/>
          </a:p>
        </p:txBody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64992" y="4197096"/>
            <a:ext cx="256032" cy="256032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3675888" y="4151376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trafic en clair</a:t>
            </a:r>
            <a:endParaRPr lang="en-US" sz="1050" dirty="0"/>
          </a:p>
        </p:txBody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64992" y="4855464"/>
            <a:ext cx="256032" cy="256032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3675888" y="4809744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chiffrement TLS</a:t>
            </a:r>
            <a:endParaRPr lang="en-US" sz="1050" dirty="0"/>
          </a:p>
        </p:txBody>
      </p:sp>
      <p:sp>
        <p:nvSpPr>
          <p:cNvPr id="36" name="Shape 24"/>
          <p:cNvSpPr/>
          <p:nvPr/>
        </p:nvSpPr>
        <p:spPr>
          <a:xfrm>
            <a:off x="6126480" y="1188720"/>
            <a:ext cx="2788920" cy="534924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7" name="Shape 25"/>
          <p:cNvSpPr/>
          <p:nvPr/>
        </p:nvSpPr>
        <p:spPr>
          <a:xfrm>
            <a:off x="6126480" y="1188720"/>
            <a:ext cx="2788920" cy="1280160"/>
          </a:xfrm>
          <a:prstGeom prst="roundRect">
            <a:avLst>
              <a:gd name="adj" fmla="val 8571"/>
            </a:avLst>
          </a:prstGeom>
          <a:solidFill>
            <a:srgbClr val="E63946"/>
          </a:solidFill>
          <a:ln/>
        </p:spPr>
      </p:sp>
      <p:sp>
        <p:nvSpPr>
          <p:cNvPr id="38" name="Shape 26"/>
          <p:cNvSpPr/>
          <p:nvPr/>
        </p:nvSpPr>
        <p:spPr>
          <a:xfrm>
            <a:off x="6126480" y="1920240"/>
            <a:ext cx="2788920" cy="548640"/>
          </a:xfrm>
          <a:prstGeom prst="rect">
            <a:avLst/>
          </a:prstGeom>
          <a:solidFill>
            <a:srgbClr val="E63946"/>
          </a:solidFill>
          <a:ln/>
        </p:spPr>
      </p:sp>
      <p:pic>
        <p:nvPicPr>
          <p:cNvPr id="3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23760" y="1280160"/>
            <a:ext cx="594360" cy="594360"/>
          </a:xfrm>
          <a:prstGeom prst="rect">
            <a:avLst/>
          </a:prstGeom>
        </p:spPr>
      </p:pic>
      <p:sp>
        <p:nvSpPr>
          <p:cNvPr id="40" name="Text 27"/>
          <p:cNvSpPr/>
          <p:nvPr/>
        </p:nvSpPr>
        <p:spPr>
          <a:xfrm>
            <a:off x="6217920" y="190195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 Linux</a:t>
            </a:r>
            <a:endParaRPr lang="en-US" sz="1200" dirty="0"/>
          </a:p>
        </p:txBody>
      </p:sp>
      <p:sp>
        <p:nvSpPr>
          <p:cNvPr id="41" name="Shape 28"/>
          <p:cNvSpPr/>
          <p:nvPr/>
        </p:nvSpPr>
        <p:spPr>
          <a:xfrm>
            <a:off x="6675120" y="2423160"/>
            <a:ext cx="1691640" cy="274320"/>
          </a:xfrm>
          <a:prstGeom prst="roundRect">
            <a:avLst>
              <a:gd name="adj" fmla="val 20000"/>
            </a:avLst>
          </a:prstGeom>
          <a:solidFill>
            <a:srgbClr val="E63946">
              <a:alpha val="20000"/>
            </a:srgbClr>
          </a:solidFill>
          <a:ln/>
        </p:spPr>
      </p:sp>
      <p:sp>
        <p:nvSpPr>
          <p:cNvPr id="42" name="Text 29"/>
          <p:cNvSpPr/>
          <p:nvPr/>
        </p:nvSpPr>
        <p:spPr>
          <a:xfrm>
            <a:off x="6675120" y="242316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2023.4</a:t>
            </a:r>
            <a:endParaRPr lang="en-US" sz="900" dirty="0"/>
          </a:p>
        </p:txBody>
      </p:sp>
      <p:pic>
        <p:nvPicPr>
          <p:cNvPr id="4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91072" y="2880360"/>
            <a:ext cx="256032" cy="256032"/>
          </a:xfrm>
          <a:prstGeom prst="rect">
            <a:avLst/>
          </a:prstGeom>
        </p:spPr>
      </p:pic>
      <p:sp>
        <p:nvSpPr>
          <p:cNvPr id="44" name="Text 30"/>
          <p:cNvSpPr/>
          <p:nvPr/>
        </p:nvSpPr>
        <p:spPr>
          <a:xfrm>
            <a:off x="6601968" y="283464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pentest dédiée</a:t>
            </a:r>
            <a:endParaRPr lang="en-US" sz="1050" dirty="0"/>
          </a:p>
        </p:txBody>
      </p:sp>
      <p:pic>
        <p:nvPicPr>
          <p:cNvPr id="4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91072" y="3538728"/>
            <a:ext cx="256032" cy="256032"/>
          </a:xfrm>
          <a:prstGeom prst="rect">
            <a:avLst/>
          </a:prstGeom>
        </p:spPr>
      </p:pic>
      <p:sp>
        <p:nvSpPr>
          <p:cNvPr id="46" name="Text 31"/>
          <p:cNvSpPr/>
          <p:nvPr/>
        </p:nvSpPr>
        <p:spPr>
          <a:xfrm>
            <a:off x="6601968" y="349300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+600 outils de sécurité</a:t>
            </a:r>
            <a:endParaRPr lang="en-US" sz="1050" dirty="0"/>
          </a:p>
        </p:txBody>
      </p:sp>
      <p:pic>
        <p:nvPicPr>
          <p:cNvPr id="4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91072" y="4197096"/>
            <a:ext cx="256032" cy="256032"/>
          </a:xfrm>
          <a:prstGeom prst="rect">
            <a:avLst/>
          </a:prstGeom>
        </p:spPr>
      </p:pic>
      <p:sp>
        <p:nvSpPr>
          <p:cNvPr id="48" name="Text 32"/>
          <p:cNvSpPr/>
          <p:nvPr/>
        </p:nvSpPr>
        <p:spPr>
          <a:xfrm>
            <a:off x="6601968" y="4151376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Nmap, Ettercap, Aircrack</a:t>
            </a:r>
            <a:endParaRPr lang="en-US" sz="1050" dirty="0"/>
          </a:p>
        </p:txBody>
      </p:sp>
      <p:pic>
        <p:nvPicPr>
          <p:cNvPr id="49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91072" y="4855464"/>
            <a:ext cx="256032" cy="256032"/>
          </a:xfrm>
          <a:prstGeom prst="rect">
            <a:avLst/>
          </a:prstGeom>
        </p:spPr>
      </p:pic>
      <p:sp>
        <p:nvSpPr>
          <p:cNvPr id="50" name="Text 33"/>
          <p:cNvSpPr/>
          <p:nvPr/>
        </p:nvSpPr>
        <p:spPr>
          <a:xfrm>
            <a:off x="6601968" y="4809744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d'intrusion réels</a:t>
            </a:r>
            <a:endParaRPr lang="en-US" sz="1050" dirty="0"/>
          </a:p>
        </p:txBody>
      </p:sp>
      <p:sp>
        <p:nvSpPr>
          <p:cNvPr id="51" name="Shape 34"/>
          <p:cNvSpPr/>
          <p:nvPr/>
        </p:nvSpPr>
        <p:spPr>
          <a:xfrm>
            <a:off x="9052560" y="1188720"/>
            <a:ext cx="2788920" cy="534924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2" name="Shape 35"/>
          <p:cNvSpPr/>
          <p:nvPr/>
        </p:nvSpPr>
        <p:spPr>
          <a:xfrm>
            <a:off x="9052560" y="1188720"/>
            <a:ext cx="2788920" cy="1280160"/>
          </a:xfrm>
          <a:prstGeom prst="roundRect">
            <a:avLst>
              <a:gd name="adj" fmla="val 8571"/>
            </a:avLst>
          </a:prstGeom>
          <a:solidFill>
            <a:srgbClr val="06D6A0"/>
          </a:solidFill>
          <a:ln/>
        </p:spPr>
      </p:sp>
      <p:sp>
        <p:nvSpPr>
          <p:cNvPr id="53" name="Shape 36"/>
          <p:cNvSpPr/>
          <p:nvPr/>
        </p:nvSpPr>
        <p:spPr>
          <a:xfrm>
            <a:off x="9052560" y="1920240"/>
            <a:ext cx="2788920" cy="548640"/>
          </a:xfrm>
          <a:prstGeom prst="rect">
            <a:avLst/>
          </a:prstGeom>
          <a:solidFill>
            <a:srgbClr val="06D6A0"/>
          </a:solidFill>
          <a:ln/>
        </p:spPr>
      </p:sp>
      <p:pic>
        <p:nvPicPr>
          <p:cNvPr id="54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149840" y="1280160"/>
            <a:ext cx="594360" cy="594360"/>
          </a:xfrm>
          <a:prstGeom prst="rect">
            <a:avLst/>
          </a:prstGeom>
        </p:spPr>
      </p:pic>
      <p:sp>
        <p:nvSpPr>
          <p:cNvPr id="55" name="Text 37"/>
          <p:cNvSpPr/>
          <p:nvPr/>
        </p:nvSpPr>
        <p:spPr>
          <a:xfrm>
            <a:off x="9144000" y="190195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Snort IDS</a:t>
            </a:r>
            <a:endParaRPr lang="en-US" sz="1200" dirty="0"/>
          </a:p>
        </p:txBody>
      </p:sp>
      <p:sp>
        <p:nvSpPr>
          <p:cNvPr id="56" name="Shape 38"/>
          <p:cNvSpPr/>
          <p:nvPr/>
        </p:nvSpPr>
        <p:spPr>
          <a:xfrm>
            <a:off x="9601200" y="2423160"/>
            <a:ext cx="1691640" cy="274320"/>
          </a:xfrm>
          <a:prstGeom prst="roundRect">
            <a:avLst>
              <a:gd name="adj" fmla="val 20000"/>
            </a:avLst>
          </a:prstGeom>
          <a:solidFill>
            <a:srgbClr val="06D6A0">
              <a:alpha val="20000"/>
            </a:srgbClr>
          </a:solidFill>
          <a:ln/>
        </p:spPr>
      </p:sp>
      <p:sp>
        <p:nvSpPr>
          <p:cNvPr id="57" name="Text 39"/>
          <p:cNvSpPr/>
          <p:nvPr/>
        </p:nvSpPr>
        <p:spPr>
          <a:xfrm>
            <a:off x="9601200" y="242316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v3.0</a:t>
            </a:r>
            <a:endParaRPr lang="en-US" sz="900" dirty="0"/>
          </a:p>
        </p:txBody>
      </p:sp>
      <p:pic>
        <p:nvPicPr>
          <p:cNvPr id="5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217152" y="2880360"/>
            <a:ext cx="256032" cy="256032"/>
          </a:xfrm>
          <a:prstGeom prst="rect">
            <a:avLst/>
          </a:prstGeom>
        </p:spPr>
      </p:pic>
      <p:sp>
        <p:nvSpPr>
          <p:cNvPr id="59" name="Text 40"/>
          <p:cNvSpPr/>
          <p:nvPr/>
        </p:nvSpPr>
        <p:spPr>
          <a:xfrm>
            <a:off x="9528048" y="283464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d'intrusions (IDS)</a:t>
            </a:r>
            <a:endParaRPr lang="en-US" sz="1050" dirty="0"/>
          </a:p>
        </p:txBody>
      </p:sp>
      <p:pic>
        <p:nvPicPr>
          <p:cNvPr id="60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217152" y="3538728"/>
            <a:ext cx="256032" cy="256032"/>
          </a:xfrm>
          <a:prstGeom prst="rect">
            <a:avLst/>
          </a:prstGeom>
        </p:spPr>
      </p:pic>
      <p:sp>
        <p:nvSpPr>
          <p:cNvPr id="61" name="Text 41"/>
          <p:cNvSpPr/>
          <p:nvPr/>
        </p:nvSpPr>
        <p:spPr>
          <a:xfrm>
            <a:off x="9528048" y="349300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temps réel</a:t>
            </a:r>
            <a:endParaRPr lang="en-US" sz="1050" dirty="0"/>
          </a:p>
        </p:txBody>
      </p:sp>
      <p:pic>
        <p:nvPicPr>
          <p:cNvPr id="62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217152" y="4197096"/>
            <a:ext cx="256032" cy="256032"/>
          </a:xfrm>
          <a:prstGeom prst="rect">
            <a:avLst/>
          </a:prstGeom>
        </p:spPr>
      </p:pic>
      <p:sp>
        <p:nvSpPr>
          <p:cNvPr id="63" name="Text 42"/>
          <p:cNvSpPr/>
          <p:nvPr/>
        </p:nvSpPr>
        <p:spPr>
          <a:xfrm>
            <a:off x="9528048" y="4151376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sur traffic suspect</a:t>
            </a:r>
            <a:endParaRPr lang="en-US" sz="1050" dirty="0"/>
          </a:p>
        </p:txBody>
      </p:sp>
      <p:pic>
        <p:nvPicPr>
          <p:cNvPr id="64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217152" y="4855464"/>
            <a:ext cx="256032" cy="256032"/>
          </a:xfrm>
          <a:prstGeom prst="rect">
            <a:avLst/>
          </a:prstGeom>
        </p:spPr>
      </p:pic>
      <p:sp>
        <p:nvSpPr>
          <p:cNvPr id="65" name="Text 43"/>
          <p:cNvSpPr/>
          <p:nvPr/>
        </p:nvSpPr>
        <p:spPr>
          <a:xfrm>
            <a:off x="9528048" y="4809744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 communautaires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9144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5FA3">
                    <a:alpha val="4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371600" y="1371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RÉSEAU RÉALISÉE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4008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Topologie IoT simulée sous Cisco Packet Tracer — 5 équipements — 2 sous-réseaux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4754880" cy="5303520"/>
          </a:xfrm>
          <a:prstGeom prst="roundRect">
            <a:avLst>
              <a:gd name="adj" fmla="val 2885"/>
            </a:avLst>
          </a:prstGeom>
          <a:solidFill>
            <a:srgbClr val="11224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344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Sous-réseau WiFi  192.168.1.0/24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4206240" cy="1097280"/>
          </a:xfrm>
          <a:prstGeom prst="roundRect">
            <a:avLst>
              <a:gd name="adj" fmla="val 8333"/>
            </a:avLst>
          </a:prstGeom>
          <a:solidFill>
            <a:srgbClr val="0A1F3E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74520"/>
            <a:ext cx="640080" cy="6400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63040" y="180136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Thermostat IoT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463040" y="219456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192.168.1.10 — Capteur WiFi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468880" y="2898648"/>
            <a:ext cx="27432" cy="457200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3383280"/>
            <a:ext cx="4206240" cy="1097280"/>
          </a:xfrm>
          <a:prstGeom prst="roundRect">
            <a:avLst>
              <a:gd name="adj" fmla="val 8333"/>
            </a:avLst>
          </a:prstGeom>
          <a:solidFill>
            <a:srgbClr val="0A1F3E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520440"/>
            <a:ext cx="640080" cy="6400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463040" y="344728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Gateway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1463040" y="384048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192.168.1.1 — Point d'accès WiFi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5029200" y="3886200"/>
            <a:ext cx="731520" cy="45720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18" name="Shape 14"/>
          <p:cNvSpPr/>
          <p:nvPr/>
        </p:nvSpPr>
        <p:spPr>
          <a:xfrm>
            <a:off x="5093208" y="3749040"/>
            <a:ext cx="45720" cy="320040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19" name="Shape 15"/>
          <p:cNvSpPr/>
          <p:nvPr/>
        </p:nvSpPr>
        <p:spPr>
          <a:xfrm>
            <a:off x="5577840" y="3383280"/>
            <a:ext cx="1371600" cy="1143000"/>
          </a:xfrm>
          <a:prstGeom prst="roundRect">
            <a:avLst>
              <a:gd name="adj" fmla="val 9600"/>
            </a:avLst>
          </a:prstGeom>
          <a:solidFill>
            <a:srgbClr val="0E5FA3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3456432"/>
            <a:ext cx="548640" cy="5486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577840" y="400507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Routeur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577840" y="42976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.254/.254</a:t>
            </a:r>
            <a:endParaRPr lang="en-US" sz="800" dirty="0"/>
          </a:p>
        </p:txBody>
      </p:sp>
      <p:sp>
        <p:nvSpPr>
          <p:cNvPr id="23" name="Shape 18"/>
          <p:cNvSpPr/>
          <p:nvPr/>
        </p:nvSpPr>
        <p:spPr>
          <a:xfrm>
            <a:off x="7223760" y="1188720"/>
            <a:ext cx="4663440" cy="5303520"/>
          </a:xfrm>
          <a:prstGeom prst="roundRect">
            <a:avLst>
              <a:gd name="adj" fmla="val 2941"/>
            </a:avLst>
          </a:prstGeom>
          <a:solidFill>
            <a:srgbClr val="112240"/>
          </a:solidFill>
          <a:ln/>
        </p:spPr>
      </p:sp>
      <p:sp>
        <p:nvSpPr>
          <p:cNvPr id="24" name="Text 19"/>
          <p:cNvSpPr/>
          <p:nvPr/>
        </p:nvSpPr>
        <p:spPr>
          <a:xfrm>
            <a:off x="7406640" y="12344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Sous-réseau LAN  192.168.2.0/24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6949440" y="3886200"/>
            <a:ext cx="73152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6" name="Shape 21"/>
          <p:cNvSpPr/>
          <p:nvPr/>
        </p:nvSpPr>
        <p:spPr>
          <a:xfrm>
            <a:off x="7498080" y="1737360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0A1F3E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1874520"/>
            <a:ext cx="640080" cy="64008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8412480" y="180136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Serveur HTTP/HTTPS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8412480" y="21945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192.168.2.1 — DNS, HTTP, HTTPS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9555480" y="2880360"/>
            <a:ext cx="27432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1" name="Shape 25"/>
          <p:cNvSpPr/>
          <p:nvPr/>
        </p:nvSpPr>
        <p:spPr>
          <a:xfrm>
            <a:off x="7498080" y="3383280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0A1F3E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0" y="3520440"/>
            <a:ext cx="640080" cy="64008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8412480" y="344728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Administrateur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8412480" y="38404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192.168.2.10 — Tests &amp; config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274320" y="6446520"/>
            <a:ext cx="11612880" cy="347472"/>
          </a:xfrm>
          <a:prstGeom prst="roundRect">
            <a:avLst>
              <a:gd name="adj" fmla="val 21053"/>
            </a:avLst>
          </a:prstGeom>
          <a:solidFill>
            <a:srgbClr val="063020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6492240"/>
            <a:ext cx="256032" cy="256032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777240" y="6464808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Ping : 100% de réussite — 4/4 paquets reçus — 0% de perte — Latence : 1ms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2D0A0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685800" cy="685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91440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63946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2103120" y="1371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DÉMONSTRATION D'ATTAQUE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2103120" y="6400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non sécurisé (HTTP) — Capture Wireshark — Données exposées en clair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74320" y="1188720"/>
            <a:ext cx="7132320" cy="5303520"/>
          </a:xfrm>
          <a:prstGeom prst="roundRect">
            <a:avLst>
              <a:gd name="adj" fmla="val 1724"/>
            </a:avLst>
          </a:prstGeom>
          <a:solidFill>
            <a:srgbClr val="0D0D0D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1216152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Wireshark — Capture en cours — Interface eth0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65760" y="1581912"/>
            <a:ext cx="6949440" cy="2743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0" name="Text 7"/>
          <p:cNvSpPr/>
          <p:nvPr/>
        </p:nvSpPr>
        <p:spPr>
          <a:xfrm>
            <a:off x="365760" y="164592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No.  Temps    Source           Destination      Proto   Info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65760" y="1938528"/>
            <a:ext cx="6949440" cy="2743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2" name="Text 9"/>
          <p:cNvSpPr/>
          <p:nvPr/>
        </p:nvSpPr>
        <p:spPr>
          <a:xfrm>
            <a:off x="411480" y="2066544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  0.001    192.168.1.10     192.168.2.1      HTTP    GET /sensor-data HTTP/1.0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11480" y="2724912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  0.002    192.168.2.1      192.168.1.10     HTTP    HTTP/1.0 200 OK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65760" y="3310128"/>
            <a:ext cx="6949440" cy="594360"/>
          </a:xfrm>
          <a:prstGeom prst="rect">
            <a:avLst/>
          </a:prstGeom>
          <a:solidFill>
            <a:srgbClr val="3D0000"/>
          </a:solidFill>
          <a:ln/>
        </p:spPr>
      </p:sp>
      <p:sp>
        <p:nvSpPr>
          <p:cNvPr id="15" name="Text 12"/>
          <p:cNvSpPr/>
          <p:nvPr/>
        </p:nvSpPr>
        <p:spPr>
          <a:xfrm>
            <a:off x="411480" y="33832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  0.003    192.168.1.10     192.168.2.1      HTTP    temp=25.6&amp;device=therm01  [CLAIR]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65760" y="3968496"/>
            <a:ext cx="6949440" cy="594360"/>
          </a:xfrm>
          <a:prstGeom prst="rect">
            <a:avLst/>
          </a:prstGeom>
          <a:solidFill>
            <a:srgbClr val="3D0000"/>
          </a:solidFill>
          <a:ln/>
        </p:spPr>
      </p:sp>
      <p:sp>
        <p:nvSpPr>
          <p:cNvPr id="17" name="Text 14"/>
          <p:cNvSpPr/>
          <p:nvPr/>
        </p:nvSpPr>
        <p:spPr>
          <a:xfrm>
            <a:off x="411480" y="4041648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  0.005    192.168.1.10     192.168.2.1      HTTP    user=admin&amp;pass=iot123   [EXPOSÉ]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365760" y="4626864"/>
            <a:ext cx="6949440" cy="594360"/>
          </a:xfrm>
          <a:prstGeom prst="rect">
            <a:avLst/>
          </a:prstGeom>
          <a:solidFill>
            <a:srgbClr val="3D0000"/>
          </a:solidFill>
          <a:ln/>
        </p:spPr>
      </p:sp>
      <p:sp>
        <p:nvSpPr>
          <p:cNvPr id="19" name="Text 16"/>
          <p:cNvSpPr/>
          <p:nvPr/>
        </p:nvSpPr>
        <p:spPr>
          <a:xfrm>
            <a:off x="411480" y="4700016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   0.007    192.168.1.10     192.168.2.1      HTTP    token=abc123&amp;secret=KEY  [VOLÉ]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365760" y="5285232"/>
            <a:ext cx="6949440" cy="594360"/>
          </a:xfrm>
          <a:prstGeom prst="rect">
            <a:avLst/>
          </a:prstGeom>
          <a:solidFill>
            <a:srgbClr val="3D0000"/>
          </a:solidFill>
          <a:ln/>
        </p:spPr>
      </p:sp>
      <p:sp>
        <p:nvSpPr>
          <p:cNvPr id="21" name="Text 18"/>
          <p:cNvSpPr/>
          <p:nvPr/>
        </p:nvSpPr>
        <p:spPr>
          <a:xfrm>
            <a:off x="411480" y="5358384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   0.009    192.168.2.1      192.168.1.10     HTTP    authorization: Bearer eyJ...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7680960" y="118872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VULNÉRABILITÉS DÉTECTÉES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7680960" y="1719072"/>
            <a:ext cx="4297680" cy="1078992"/>
          </a:xfrm>
          <a:prstGeom prst="roundRect">
            <a:avLst>
              <a:gd name="adj" fmla="val 8475"/>
            </a:avLst>
          </a:prstGeom>
          <a:solidFill>
            <a:srgbClr val="2D0A0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993392"/>
            <a:ext cx="457200" cy="45720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8412480" y="1792224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Sniffing détecté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8412480" y="222199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Trafic HTTP intercepté en clair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7680960" y="2926080"/>
            <a:ext cx="4297680" cy="1078992"/>
          </a:xfrm>
          <a:prstGeom prst="roundRect">
            <a:avLst>
              <a:gd name="adj" fmla="val 8475"/>
            </a:avLst>
          </a:prstGeom>
          <a:solidFill>
            <a:srgbClr val="2D0A0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3200400"/>
            <a:ext cx="457200" cy="45720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8412480" y="299923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exposées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8412480" y="342900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Température &amp; identifiants visibles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7680960" y="4133088"/>
            <a:ext cx="4297680" cy="1078992"/>
          </a:xfrm>
          <a:prstGeom prst="roundRect">
            <a:avLst>
              <a:gd name="adj" fmla="val 8475"/>
            </a:avLst>
          </a:prstGeom>
          <a:solidFill>
            <a:srgbClr val="2D0A0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4407408"/>
            <a:ext cx="457200" cy="45720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8412480" y="420624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 de passe volé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8412480" y="463600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admin/iot123 capturé en clair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7680960" y="5340096"/>
            <a:ext cx="4297680" cy="1078992"/>
          </a:xfrm>
          <a:prstGeom prst="roundRect">
            <a:avLst>
              <a:gd name="adj" fmla="val 8475"/>
            </a:avLst>
          </a:prstGeom>
          <a:solidFill>
            <a:srgbClr val="2D0A0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0" y="5614416"/>
            <a:ext cx="457200" cy="45720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8412480" y="541324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Man-in-the-Middle</a:t>
            </a:r>
            <a:endParaRPr lang="en-US" sz="1200" dirty="0"/>
          </a:p>
        </p:txBody>
      </p:sp>
      <p:sp>
        <p:nvSpPr>
          <p:cNvPr id="38" name="Text 31"/>
          <p:cNvSpPr/>
          <p:nvPr/>
        </p:nvSpPr>
        <p:spPr>
          <a:xfrm>
            <a:off x="8412480" y="5843016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Modification possible des paquets</a:t>
            </a:r>
            <a:endParaRPr lang="en-US" sz="1000" dirty="0"/>
          </a:p>
        </p:txBody>
      </p:sp>
      <p:sp>
        <p:nvSpPr>
          <p:cNvPr id="39" name="Shape 32"/>
          <p:cNvSpPr/>
          <p:nvPr/>
        </p:nvSpPr>
        <p:spPr>
          <a:xfrm>
            <a:off x="274320" y="6446520"/>
            <a:ext cx="11612880" cy="347472"/>
          </a:xfrm>
          <a:prstGeom prst="roundRect">
            <a:avLst>
              <a:gd name="adj" fmla="val 21053"/>
            </a:avLst>
          </a:prstGeom>
          <a:solidFill>
            <a:srgbClr val="3D0000"/>
          </a:solidFill>
          <a:ln/>
        </p:spPr>
      </p:sp>
      <p:sp>
        <p:nvSpPr>
          <p:cNvPr id="40" name="Text 33"/>
          <p:cNvSpPr/>
          <p:nvPr/>
        </p:nvSpPr>
        <p:spPr>
          <a:xfrm>
            <a:off x="274320" y="6446520"/>
            <a:ext cx="1161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RÉSEAU NON SÉCURISÉ : Toutes les données sont interceptables — Risque CRITIQUE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0A2A1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685800" cy="685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91440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6D6A0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2103120" y="1371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SOLUTIONS DE SÉCURITÉ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2103120" y="6400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 de défense en profondeur — 4 couches de protection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74320" y="1234440"/>
            <a:ext cx="2788920" cy="5303520"/>
          </a:xfrm>
          <a:prstGeom prst="roundRect">
            <a:avLst>
              <a:gd name="adj" fmla="val 3934"/>
            </a:avLst>
          </a:prstGeom>
          <a:solidFill>
            <a:srgbClr val="071F12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74320" y="1234440"/>
            <a:ext cx="2788920" cy="1143000"/>
          </a:xfrm>
          <a:prstGeom prst="roundRect">
            <a:avLst>
              <a:gd name="adj" fmla="val 9600"/>
            </a:avLst>
          </a:prstGeom>
          <a:solidFill>
            <a:srgbClr val="06D6A0">
              <a:alpha val="85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274320" y="1737360"/>
            <a:ext cx="2788920" cy="640080"/>
          </a:xfrm>
          <a:prstGeom prst="rect">
            <a:avLst/>
          </a:prstGeom>
          <a:solidFill>
            <a:srgbClr val="06D6A0">
              <a:alpha val="85000"/>
            </a:srgbClr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3312" y="1344168"/>
            <a:ext cx="621792" cy="62179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65760" y="20574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1.3 — HTTPS</a:t>
            </a:r>
            <a:endParaRPr lang="en-US" sz="12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48840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22960" y="205740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F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→ HTTPS chiffré</a:t>
            </a:r>
            <a:endParaRPr lang="en-US" sz="10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108960"/>
            <a:ext cx="292608" cy="2926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22960" y="301752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F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Algorithme AES 128-bit</a:t>
            </a:r>
            <a:endParaRPr lang="en-US" sz="10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069080"/>
            <a:ext cx="292608" cy="29260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22960" y="397764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F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illisibles en transit</a:t>
            </a:r>
            <a:endParaRPr lang="en-US" sz="10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5029200"/>
            <a:ext cx="292608" cy="29260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822960" y="493776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F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 serveur validé</a:t>
            </a:r>
            <a:endParaRPr lang="en-US" sz="1050" dirty="0"/>
          </a:p>
        </p:txBody>
      </p:sp>
      <p:sp>
        <p:nvSpPr>
          <p:cNvPr id="20" name="Shape 12"/>
          <p:cNvSpPr/>
          <p:nvPr/>
        </p:nvSpPr>
        <p:spPr>
          <a:xfrm>
            <a:off x="3200400" y="1234440"/>
            <a:ext cx="2788920" cy="5303520"/>
          </a:xfrm>
          <a:prstGeom prst="roundRect">
            <a:avLst>
              <a:gd name="adj" fmla="val 3934"/>
            </a:avLst>
          </a:prstGeom>
          <a:solidFill>
            <a:srgbClr val="071A1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1" name="Shape 13"/>
          <p:cNvSpPr/>
          <p:nvPr/>
        </p:nvSpPr>
        <p:spPr>
          <a:xfrm>
            <a:off x="3200400" y="1234440"/>
            <a:ext cx="2788920" cy="1143000"/>
          </a:xfrm>
          <a:prstGeom prst="roundRect">
            <a:avLst>
              <a:gd name="adj" fmla="val 9600"/>
            </a:avLst>
          </a:prstGeom>
          <a:solidFill>
            <a:srgbClr val="0891B2">
              <a:alpha val="85000"/>
            </a:srgbClr>
          </a:solidFill>
          <a:ln/>
        </p:spPr>
      </p:sp>
      <p:sp>
        <p:nvSpPr>
          <p:cNvPr id="22" name="Shape 14"/>
          <p:cNvSpPr/>
          <p:nvPr/>
        </p:nvSpPr>
        <p:spPr>
          <a:xfrm>
            <a:off x="3200400" y="1737360"/>
            <a:ext cx="2788920" cy="640080"/>
          </a:xfrm>
          <a:prstGeom prst="rect">
            <a:avLst/>
          </a:prstGeom>
          <a:solidFill>
            <a:srgbClr val="0891B2">
              <a:alpha val="85000"/>
            </a:srgbClr>
          </a:solidFill>
          <a:ln/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79392" y="1344168"/>
            <a:ext cx="621792" cy="621792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3291840" y="20574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WPA2-AES</a:t>
            </a:r>
            <a:endParaRPr lang="en-US" sz="120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83280" y="2148840"/>
            <a:ext cx="292608" cy="292608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3749040" y="205740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F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WPA2-Personal activé</a:t>
            </a:r>
            <a:endParaRPr lang="en-US" sz="1050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83280" y="3108960"/>
            <a:ext cx="292608" cy="292608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3749040" y="301752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F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Chiffrement AES-CCMP</a:t>
            </a:r>
            <a:endParaRPr lang="en-US" sz="1050" dirty="0"/>
          </a:p>
        </p:txBody>
      </p:sp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83280" y="4069080"/>
            <a:ext cx="292608" cy="292608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3749040" y="397764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F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 de passe 12+ caractères</a:t>
            </a:r>
            <a:endParaRPr lang="en-US" sz="1050" dirty="0"/>
          </a:p>
        </p:txBody>
      </p:sp>
      <p:pic>
        <p:nvPicPr>
          <p:cNvPr id="3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83280" y="5029200"/>
            <a:ext cx="292608" cy="292608"/>
          </a:xfrm>
          <a:prstGeom prst="rect">
            <a:avLst/>
          </a:prstGeom>
        </p:spPr>
      </p:pic>
      <p:sp>
        <p:nvSpPr>
          <p:cNvPr id="32" name="Text 19"/>
          <p:cNvSpPr/>
          <p:nvPr/>
        </p:nvSpPr>
        <p:spPr>
          <a:xfrm>
            <a:off x="3749040" y="493776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F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Filtrage adresses MAC</a:t>
            </a:r>
            <a:endParaRPr lang="en-US" sz="1050" dirty="0"/>
          </a:p>
        </p:txBody>
      </p:sp>
      <p:sp>
        <p:nvSpPr>
          <p:cNvPr id="33" name="Shape 20"/>
          <p:cNvSpPr/>
          <p:nvPr/>
        </p:nvSpPr>
        <p:spPr>
          <a:xfrm>
            <a:off x="6126480" y="1234440"/>
            <a:ext cx="2788920" cy="5303520"/>
          </a:xfrm>
          <a:prstGeom prst="roundRect">
            <a:avLst>
              <a:gd name="adj" fmla="val 3934"/>
            </a:avLst>
          </a:prstGeom>
          <a:solidFill>
            <a:srgbClr val="07102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4" name="Shape 21"/>
          <p:cNvSpPr/>
          <p:nvPr/>
        </p:nvSpPr>
        <p:spPr>
          <a:xfrm>
            <a:off x="6126480" y="1234440"/>
            <a:ext cx="2788920" cy="1143000"/>
          </a:xfrm>
          <a:prstGeom prst="roundRect">
            <a:avLst>
              <a:gd name="adj" fmla="val 9600"/>
            </a:avLst>
          </a:prstGeom>
          <a:solidFill>
            <a:srgbClr val="0E5FA3">
              <a:alpha val="85000"/>
            </a:srgbClr>
          </a:solidFill>
          <a:ln/>
        </p:spPr>
      </p:sp>
      <p:sp>
        <p:nvSpPr>
          <p:cNvPr id="35" name="Shape 22"/>
          <p:cNvSpPr/>
          <p:nvPr/>
        </p:nvSpPr>
        <p:spPr>
          <a:xfrm>
            <a:off x="6126480" y="1737360"/>
            <a:ext cx="2788920" cy="640080"/>
          </a:xfrm>
          <a:prstGeom prst="rect">
            <a:avLst/>
          </a:prstGeom>
          <a:solidFill>
            <a:srgbClr val="0E5FA3">
              <a:alpha val="85000"/>
            </a:srgbClr>
          </a:solidFill>
          <a:ln/>
        </p:spPr>
      </p:sp>
      <p:pic>
        <p:nvPicPr>
          <p:cNvPr id="3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05472" y="1344168"/>
            <a:ext cx="621792" cy="621792"/>
          </a:xfrm>
          <a:prstGeom prst="rect">
            <a:avLst/>
          </a:prstGeom>
        </p:spPr>
      </p:pic>
      <p:sp>
        <p:nvSpPr>
          <p:cNvPr id="37" name="Text 23"/>
          <p:cNvSpPr/>
          <p:nvPr/>
        </p:nvSpPr>
        <p:spPr>
          <a:xfrm>
            <a:off x="6217920" y="20574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Pare-feu ACL Cisco</a:t>
            </a:r>
            <a:endParaRPr lang="en-US" sz="1200" dirty="0"/>
          </a:p>
        </p:txBody>
      </p:sp>
      <p:pic>
        <p:nvPicPr>
          <p:cNvPr id="3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09360" y="2148840"/>
            <a:ext cx="292608" cy="292608"/>
          </a:xfrm>
          <a:prstGeom prst="rect">
            <a:avLst/>
          </a:prstGeom>
        </p:spPr>
      </p:pic>
      <p:sp>
        <p:nvSpPr>
          <p:cNvPr id="39" name="Text 24"/>
          <p:cNvSpPr/>
          <p:nvPr/>
        </p:nvSpPr>
        <p:spPr>
          <a:xfrm>
            <a:off x="6675120" y="205740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F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 (HTTP) bloqué</a:t>
            </a:r>
            <a:endParaRPr lang="en-US" sz="1050" dirty="0"/>
          </a:p>
        </p:txBody>
      </p:sp>
      <p:pic>
        <p:nvPicPr>
          <p:cNvPr id="40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09360" y="3108960"/>
            <a:ext cx="292608" cy="292608"/>
          </a:xfrm>
          <a:prstGeom prst="rect">
            <a:avLst/>
          </a:prstGeom>
        </p:spPr>
      </p:pic>
      <p:sp>
        <p:nvSpPr>
          <p:cNvPr id="41" name="Text 25"/>
          <p:cNvSpPr/>
          <p:nvPr/>
        </p:nvSpPr>
        <p:spPr>
          <a:xfrm>
            <a:off x="6675120" y="301752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F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443 (HTTPS) autorisé</a:t>
            </a:r>
            <a:endParaRPr lang="en-US" sz="1050" dirty="0"/>
          </a:p>
        </p:txBody>
      </p:sp>
      <p:pic>
        <p:nvPicPr>
          <p:cNvPr id="42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09360" y="4069080"/>
            <a:ext cx="292608" cy="292608"/>
          </a:xfrm>
          <a:prstGeom prst="rect">
            <a:avLst/>
          </a:prstGeom>
        </p:spPr>
      </p:pic>
      <p:sp>
        <p:nvSpPr>
          <p:cNvPr id="43" name="Text 26"/>
          <p:cNvSpPr/>
          <p:nvPr/>
        </p:nvSpPr>
        <p:spPr>
          <a:xfrm>
            <a:off x="6675120" y="397764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F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Telnet/FTP interdits</a:t>
            </a:r>
            <a:endParaRPr lang="en-US" sz="1050" dirty="0"/>
          </a:p>
        </p:txBody>
      </p:sp>
      <p:pic>
        <p:nvPicPr>
          <p:cNvPr id="44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09360" y="5029200"/>
            <a:ext cx="292608" cy="292608"/>
          </a:xfrm>
          <a:prstGeom prst="rect">
            <a:avLst/>
          </a:prstGeom>
        </p:spPr>
      </p:pic>
      <p:sp>
        <p:nvSpPr>
          <p:cNvPr id="45" name="Text 27"/>
          <p:cNvSpPr/>
          <p:nvPr/>
        </p:nvSpPr>
        <p:spPr>
          <a:xfrm>
            <a:off x="6675120" y="493776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F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de refus final</a:t>
            </a:r>
            <a:endParaRPr lang="en-US" sz="1050" dirty="0"/>
          </a:p>
        </p:txBody>
      </p:sp>
      <p:sp>
        <p:nvSpPr>
          <p:cNvPr id="46" name="Shape 28"/>
          <p:cNvSpPr/>
          <p:nvPr/>
        </p:nvSpPr>
        <p:spPr>
          <a:xfrm>
            <a:off x="9052560" y="1234440"/>
            <a:ext cx="2788920" cy="5303520"/>
          </a:xfrm>
          <a:prstGeom prst="roundRect">
            <a:avLst>
              <a:gd name="adj" fmla="val 3934"/>
            </a:avLst>
          </a:prstGeom>
          <a:solidFill>
            <a:srgbClr val="201A07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47" name="Shape 29"/>
          <p:cNvSpPr/>
          <p:nvPr/>
        </p:nvSpPr>
        <p:spPr>
          <a:xfrm>
            <a:off x="9052560" y="1234440"/>
            <a:ext cx="2788920" cy="1143000"/>
          </a:xfrm>
          <a:prstGeom prst="roundRect">
            <a:avLst>
              <a:gd name="adj" fmla="val 9600"/>
            </a:avLst>
          </a:prstGeom>
          <a:solidFill>
            <a:srgbClr val="F4A261">
              <a:alpha val="85000"/>
            </a:srgbClr>
          </a:solidFill>
          <a:ln/>
        </p:spPr>
      </p:sp>
      <p:sp>
        <p:nvSpPr>
          <p:cNvPr id="48" name="Shape 30"/>
          <p:cNvSpPr/>
          <p:nvPr/>
        </p:nvSpPr>
        <p:spPr>
          <a:xfrm>
            <a:off x="9052560" y="1737360"/>
            <a:ext cx="2788920" cy="640080"/>
          </a:xfrm>
          <a:prstGeom prst="rect">
            <a:avLst/>
          </a:prstGeom>
          <a:solidFill>
            <a:srgbClr val="F4A261">
              <a:alpha val="85000"/>
            </a:srgbClr>
          </a:solidFill>
          <a:ln/>
        </p:spPr>
      </p:sp>
      <p:pic>
        <p:nvPicPr>
          <p:cNvPr id="49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131552" y="1344168"/>
            <a:ext cx="621792" cy="621792"/>
          </a:xfrm>
          <a:prstGeom prst="rect">
            <a:avLst/>
          </a:prstGeom>
        </p:spPr>
      </p:pic>
      <p:sp>
        <p:nvSpPr>
          <p:cNvPr id="50" name="Text 31"/>
          <p:cNvSpPr/>
          <p:nvPr/>
        </p:nvSpPr>
        <p:spPr>
          <a:xfrm>
            <a:off x="9144000" y="20574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Snort IDS</a:t>
            </a:r>
            <a:endParaRPr lang="en-US" sz="1200" dirty="0"/>
          </a:p>
        </p:txBody>
      </p:sp>
      <p:pic>
        <p:nvPicPr>
          <p:cNvPr id="51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235440" y="2148840"/>
            <a:ext cx="292608" cy="292608"/>
          </a:xfrm>
          <a:prstGeom prst="rect">
            <a:avLst/>
          </a:prstGeom>
        </p:spPr>
      </p:pic>
      <p:sp>
        <p:nvSpPr>
          <p:cNvPr id="52" name="Text 32"/>
          <p:cNvSpPr/>
          <p:nvPr/>
        </p:nvSpPr>
        <p:spPr>
          <a:xfrm>
            <a:off x="9601200" y="205740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F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temps réel</a:t>
            </a:r>
            <a:endParaRPr lang="en-US" sz="1050" dirty="0"/>
          </a:p>
        </p:txBody>
      </p:sp>
      <p:pic>
        <p:nvPicPr>
          <p:cNvPr id="53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235440" y="3108960"/>
            <a:ext cx="292608" cy="292608"/>
          </a:xfrm>
          <a:prstGeom prst="rect">
            <a:avLst/>
          </a:prstGeom>
        </p:spPr>
      </p:pic>
      <p:sp>
        <p:nvSpPr>
          <p:cNvPr id="54" name="Text 33"/>
          <p:cNvSpPr/>
          <p:nvPr/>
        </p:nvSpPr>
        <p:spPr>
          <a:xfrm>
            <a:off x="9601200" y="301752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F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scan de ports</a:t>
            </a:r>
            <a:endParaRPr lang="en-US" sz="1050" dirty="0"/>
          </a:p>
        </p:txBody>
      </p:sp>
      <p:pic>
        <p:nvPicPr>
          <p:cNvPr id="55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235440" y="4069080"/>
            <a:ext cx="292608" cy="292608"/>
          </a:xfrm>
          <a:prstGeom prst="rect">
            <a:avLst/>
          </a:prstGeom>
        </p:spPr>
      </p:pic>
      <p:sp>
        <p:nvSpPr>
          <p:cNvPr id="56" name="Text 34"/>
          <p:cNvSpPr/>
          <p:nvPr/>
        </p:nvSpPr>
        <p:spPr>
          <a:xfrm>
            <a:off x="9601200" y="397764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F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DDoS/Brute Force</a:t>
            </a:r>
            <a:endParaRPr lang="en-US" sz="1050" dirty="0"/>
          </a:p>
        </p:txBody>
      </p:sp>
      <p:pic>
        <p:nvPicPr>
          <p:cNvPr id="57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235440" y="5029200"/>
            <a:ext cx="292608" cy="292608"/>
          </a:xfrm>
          <a:prstGeom prst="rect">
            <a:avLst/>
          </a:prstGeom>
        </p:spPr>
      </p:pic>
      <p:sp>
        <p:nvSpPr>
          <p:cNvPr id="58" name="Text 35"/>
          <p:cNvSpPr/>
          <p:nvPr/>
        </p:nvSpPr>
        <p:spPr>
          <a:xfrm>
            <a:off x="9601200" y="493776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F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Journaux de sécurité</a:t>
            </a:r>
            <a:endParaRPr lang="en-US" sz="1050" dirty="0"/>
          </a:p>
        </p:txBody>
      </p:sp>
      <p:sp>
        <p:nvSpPr>
          <p:cNvPr id="59" name="Shape 36"/>
          <p:cNvSpPr/>
          <p:nvPr/>
        </p:nvSpPr>
        <p:spPr>
          <a:xfrm>
            <a:off x="274320" y="6446520"/>
            <a:ext cx="11612880" cy="347472"/>
          </a:xfrm>
          <a:prstGeom prst="roundRect">
            <a:avLst>
              <a:gd name="adj" fmla="val 21053"/>
            </a:avLst>
          </a:prstGeom>
          <a:solidFill>
            <a:srgbClr val="063020"/>
          </a:solidFill>
          <a:ln/>
        </p:spPr>
      </p:sp>
      <p:pic>
        <p:nvPicPr>
          <p:cNvPr id="60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57200" y="6492240"/>
            <a:ext cx="256032" cy="256032"/>
          </a:xfrm>
          <a:prstGeom prst="rect">
            <a:avLst/>
          </a:prstGeom>
        </p:spPr>
      </p:pic>
      <p:sp>
        <p:nvSpPr>
          <p:cNvPr id="61" name="Text 37"/>
          <p:cNvSpPr/>
          <p:nvPr/>
        </p:nvSpPr>
        <p:spPr>
          <a:xfrm>
            <a:off x="777240" y="6464808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sécurisation — Wireshark : Trafic TLS 1.3 entièrement chiffré — Données illisibles ✓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9144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5FA3">
                    <a:alpha val="4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371600" y="1371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RÉSULTATS — AVANT / APRÈS SÉCURISATION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6400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détaillée des niveaux de sécurité obtenus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1188720"/>
          <a:ext cx="59436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188720"/>
          <a:ext cx="5577840" cy="4663440"/>
        </p:xfrm>
        <a:graphic>
          <a:graphicData uri="http://schemas.openxmlformats.org/drawingml/2006/table">
            <a:tbl>
              <a:tblPr/>
              <a:tblGrid>
                <a:gridCol w="1645920"/>
                <a:gridCol w="1965960"/>
                <a:gridCol w="196596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Critère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Avant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B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Après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F4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Protocole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 — données en clair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 / TLS 1.3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WiFi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 ou WEP faible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WPA2-AES 128 bits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Pare-feu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configuré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ACL actives — Port 80 bloqué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Aucune surveillance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Snort — alertes temps réel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Données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Interceptables (Wireshark)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Chiffrées, illisibles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Risque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CRITIQUE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5486400"/>
            <a:ext cx="2743200" cy="1005840"/>
          </a:xfrm>
          <a:prstGeom prst="roundRect">
            <a:avLst>
              <a:gd name="adj" fmla="val 9091"/>
            </a:avLst>
          </a:prstGeom>
          <a:solidFill>
            <a:srgbClr val="0A1628"/>
          </a:solidFill>
          <a:ln/>
        </p:spPr>
      </p:sp>
      <p:sp>
        <p:nvSpPr>
          <p:cNvPr id="9" name="Text 5"/>
          <p:cNvSpPr/>
          <p:nvPr/>
        </p:nvSpPr>
        <p:spPr>
          <a:xfrm>
            <a:off x="274320" y="55321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D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800" dirty="0"/>
          </a:p>
        </p:txBody>
      </p:sp>
      <p:sp>
        <p:nvSpPr>
          <p:cNvPr id="10" name="Text 6"/>
          <p:cNvSpPr/>
          <p:nvPr/>
        </p:nvSpPr>
        <p:spPr>
          <a:xfrm>
            <a:off x="274320" y="6080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 réussi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200400" y="5486400"/>
            <a:ext cx="2743200" cy="1005840"/>
          </a:xfrm>
          <a:prstGeom prst="roundRect">
            <a:avLst>
              <a:gd name="adj" fmla="val 9091"/>
            </a:avLst>
          </a:prstGeom>
          <a:solidFill>
            <a:srgbClr val="0A1628"/>
          </a:solidFill>
          <a:ln/>
        </p:spPr>
      </p:sp>
      <p:sp>
        <p:nvSpPr>
          <p:cNvPr id="12" name="Text 8"/>
          <p:cNvSpPr/>
          <p:nvPr/>
        </p:nvSpPr>
        <p:spPr>
          <a:xfrm>
            <a:off x="3200400" y="55321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D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0%</a:t>
            </a:r>
            <a:endParaRPr lang="en-US" sz="2800" dirty="0"/>
          </a:p>
        </p:txBody>
      </p:sp>
      <p:sp>
        <p:nvSpPr>
          <p:cNvPr id="13" name="Text 9"/>
          <p:cNvSpPr/>
          <p:nvPr/>
        </p:nvSpPr>
        <p:spPr>
          <a:xfrm>
            <a:off x="3200400" y="6080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 paquets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126480" y="5486400"/>
            <a:ext cx="2743200" cy="1005840"/>
          </a:xfrm>
          <a:prstGeom prst="roundRect">
            <a:avLst>
              <a:gd name="adj" fmla="val 9091"/>
            </a:avLst>
          </a:prstGeom>
          <a:solidFill>
            <a:srgbClr val="0A1628"/>
          </a:solidFill>
          <a:ln/>
        </p:spPr>
      </p:sp>
      <p:sp>
        <p:nvSpPr>
          <p:cNvPr id="15" name="Text 11"/>
          <p:cNvSpPr/>
          <p:nvPr/>
        </p:nvSpPr>
        <p:spPr>
          <a:xfrm>
            <a:off x="6126480" y="55321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5F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TLS 1.3</a:t>
            </a:r>
            <a:endParaRPr lang="en-US" sz="2800" dirty="0"/>
          </a:p>
        </p:txBody>
      </p:sp>
      <p:sp>
        <p:nvSpPr>
          <p:cNvPr id="16" name="Text 12"/>
          <p:cNvSpPr/>
          <p:nvPr/>
        </p:nvSpPr>
        <p:spPr>
          <a:xfrm>
            <a:off x="6126480" y="6080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Chiffrement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9052560" y="5486400"/>
            <a:ext cx="2743200" cy="1005840"/>
          </a:xfrm>
          <a:prstGeom prst="roundRect">
            <a:avLst>
              <a:gd name="adj" fmla="val 9091"/>
            </a:avLst>
          </a:prstGeom>
          <a:solidFill>
            <a:srgbClr val="0A1628"/>
          </a:solidFill>
          <a:ln/>
        </p:spPr>
      </p:sp>
      <p:sp>
        <p:nvSpPr>
          <p:cNvPr id="18" name="Text 14"/>
          <p:cNvSpPr/>
          <p:nvPr/>
        </p:nvSpPr>
        <p:spPr>
          <a:xfrm>
            <a:off x="9052560" y="55321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D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4/4</a:t>
            </a:r>
            <a:endParaRPr lang="en-US" sz="2800" dirty="0"/>
          </a:p>
        </p:txBody>
      </p:sp>
      <p:sp>
        <p:nvSpPr>
          <p:cNvPr id="19" name="Text 15"/>
          <p:cNvSpPr/>
          <p:nvPr/>
        </p:nvSpPr>
        <p:spPr>
          <a:xfrm>
            <a:off x="9052560" y="6080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passés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2286000"/>
            <a:ext cx="6400800" cy="6400800"/>
          </a:xfrm>
          <a:prstGeom prst="ellipse">
            <a:avLst/>
          </a:prstGeom>
          <a:solidFill>
            <a:srgbClr val="0E5FA3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2926080"/>
            <a:ext cx="4572000" cy="4572000"/>
          </a:xfrm>
          <a:prstGeom prst="ellipse">
            <a:avLst/>
          </a:prstGeom>
          <a:solidFill>
            <a:srgbClr val="00C2FF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0D213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685800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371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PERSPECTIVES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97280" y="6400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du projet — Acquis — Ouvertures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65760" y="123444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nous avons accompli</a:t>
            </a:r>
            <a:endParaRPr lang="en-US" sz="15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783080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49808" y="173736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d'une architecture IoT réaliste à 5 nœuds sous Cisco Packet Tracer</a:t>
            </a:r>
            <a:endParaRPr lang="en-US" sz="11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532888"/>
            <a:ext cx="292608" cy="2926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49808" y="2487168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complète : routeur, serveur, passerelle WiFi, règles pare-feu ACL</a:t>
            </a:r>
            <a:endParaRPr lang="en-US" sz="11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282696"/>
            <a:ext cx="292608" cy="29260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9808" y="3236976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 concrète d'une attaque par sniffing (Wireshark) sur réseau non sécurisé</a:t>
            </a:r>
            <a:endParaRPr lang="en-US" sz="11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4032504"/>
            <a:ext cx="292608" cy="29260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49808" y="3986784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place d'une défense en profondeur : TLS 1.3, WPA2-AES, ACL, Snort IDS</a:t>
            </a:r>
            <a:endParaRPr lang="en-US" sz="115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4782312"/>
            <a:ext cx="292608" cy="292608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749808" y="4736592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mesurables : risque réduit de critique à faible, 100% des tests validés</a:t>
            </a:r>
            <a:endParaRPr lang="en-US" sz="1150" dirty="0"/>
          </a:p>
        </p:txBody>
      </p:sp>
      <p:sp>
        <p:nvSpPr>
          <p:cNvPr id="19" name="Shape 11"/>
          <p:cNvSpPr/>
          <p:nvPr/>
        </p:nvSpPr>
        <p:spPr>
          <a:xfrm>
            <a:off x="365760" y="5623560"/>
            <a:ext cx="6583680" cy="1005840"/>
          </a:xfrm>
          <a:prstGeom prst="roundRect">
            <a:avLst>
              <a:gd name="adj" fmla="val 9091"/>
            </a:avLst>
          </a:prstGeom>
          <a:solidFill>
            <a:srgbClr val="112240"/>
          </a:solidFill>
          <a:ln/>
        </p:spPr>
      </p:sp>
      <p:sp>
        <p:nvSpPr>
          <p:cNvPr id="20" name="Text 12"/>
          <p:cNvSpPr/>
          <p:nvPr/>
        </p:nvSpPr>
        <p:spPr>
          <a:xfrm>
            <a:off x="548640" y="5669280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 développées :</a:t>
            </a:r>
            <a:endParaRPr lang="en-US" sz="1100" dirty="0"/>
          </a:p>
        </p:txBody>
      </p:sp>
      <p:sp>
        <p:nvSpPr>
          <p:cNvPr id="21" name="Text 13"/>
          <p:cNvSpPr/>
          <p:nvPr/>
        </p:nvSpPr>
        <p:spPr>
          <a:xfrm>
            <a:off x="548640" y="5989320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Cisco IOS  ·  Analyse réseau Wireshark  ·  Pentesting Kali Linux  ·  IDS Snort  ·  Sécurisation WiFi WPA2  ·  Chiffrement TLS/SSL</a:t>
            </a:r>
            <a:endParaRPr lang="en-US" sz="1000" dirty="0"/>
          </a:p>
        </p:txBody>
      </p:sp>
      <p:sp>
        <p:nvSpPr>
          <p:cNvPr id="22" name="Text 14"/>
          <p:cNvSpPr/>
          <p:nvPr/>
        </p:nvSpPr>
        <p:spPr>
          <a:xfrm>
            <a:off x="7315200" y="12344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 d'évolution</a:t>
            </a:r>
            <a:endParaRPr lang="en-US" sz="1500" dirty="0"/>
          </a:p>
        </p:txBody>
      </p:sp>
      <p:sp>
        <p:nvSpPr>
          <p:cNvPr id="23" name="Shape 15"/>
          <p:cNvSpPr/>
          <p:nvPr/>
        </p:nvSpPr>
        <p:spPr>
          <a:xfrm>
            <a:off x="7315200" y="1783080"/>
            <a:ext cx="4572000" cy="1024128"/>
          </a:xfrm>
          <a:prstGeom prst="roundRect">
            <a:avLst>
              <a:gd name="adj" fmla="val 8929"/>
            </a:avLst>
          </a:prstGeom>
          <a:solidFill>
            <a:srgbClr val="112240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8080" y="2039112"/>
            <a:ext cx="457200" cy="45720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8046720" y="184708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Protocoles industriels</a:t>
            </a:r>
            <a:endParaRPr lang="en-US" sz="1200" dirty="0"/>
          </a:p>
        </p:txBody>
      </p:sp>
      <p:sp>
        <p:nvSpPr>
          <p:cNvPr id="26" name="Text 17"/>
          <p:cNvSpPr/>
          <p:nvPr/>
        </p:nvSpPr>
        <p:spPr>
          <a:xfrm>
            <a:off x="8046720" y="225856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MQTT, Modbus, OPC-UA</a:t>
            </a:r>
            <a:endParaRPr lang="en-US" sz="1050" dirty="0"/>
          </a:p>
        </p:txBody>
      </p:sp>
      <p:sp>
        <p:nvSpPr>
          <p:cNvPr id="27" name="Shape 18"/>
          <p:cNvSpPr/>
          <p:nvPr/>
        </p:nvSpPr>
        <p:spPr>
          <a:xfrm>
            <a:off x="7315200" y="2926080"/>
            <a:ext cx="4572000" cy="1024128"/>
          </a:xfrm>
          <a:prstGeom prst="roundRect">
            <a:avLst>
              <a:gd name="adj" fmla="val 8929"/>
            </a:avLst>
          </a:prstGeom>
          <a:solidFill>
            <a:srgbClr val="112240"/>
          </a:solidFill>
          <a:ln/>
        </p:spPr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98080" y="3182112"/>
            <a:ext cx="457200" cy="457200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8046720" y="299008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IoT sécurisé</a:t>
            </a:r>
            <a:endParaRPr lang="en-US" sz="1200" dirty="0"/>
          </a:p>
        </p:txBody>
      </p:sp>
      <p:sp>
        <p:nvSpPr>
          <p:cNvPr id="30" name="Text 20"/>
          <p:cNvSpPr/>
          <p:nvPr/>
        </p:nvSpPr>
        <p:spPr>
          <a:xfrm>
            <a:off x="8046720" y="340156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IoT Core, Azure IoT Hub</a:t>
            </a:r>
            <a:endParaRPr lang="en-US" sz="1050" dirty="0"/>
          </a:p>
        </p:txBody>
      </p:sp>
      <p:sp>
        <p:nvSpPr>
          <p:cNvPr id="31" name="Shape 21"/>
          <p:cNvSpPr/>
          <p:nvPr/>
        </p:nvSpPr>
        <p:spPr>
          <a:xfrm>
            <a:off x="7315200" y="4069080"/>
            <a:ext cx="4572000" cy="1024128"/>
          </a:xfrm>
          <a:prstGeom prst="roundRect">
            <a:avLst>
              <a:gd name="adj" fmla="val 8929"/>
            </a:avLst>
          </a:prstGeom>
          <a:solidFill>
            <a:srgbClr val="112240"/>
          </a:solidFill>
          <a:ln/>
        </p:spPr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98080" y="4325112"/>
            <a:ext cx="457200" cy="457200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8046720" y="413308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avancée</a:t>
            </a:r>
            <a:endParaRPr lang="en-US" sz="1200" dirty="0"/>
          </a:p>
        </p:txBody>
      </p:sp>
      <p:sp>
        <p:nvSpPr>
          <p:cNvPr id="34" name="Text 23"/>
          <p:cNvSpPr/>
          <p:nvPr/>
        </p:nvSpPr>
        <p:spPr>
          <a:xfrm>
            <a:off x="8046720" y="454456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Certificats X.509, OAuth 2.0</a:t>
            </a:r>
            <a:endParaRPr lang="en-US" sz="1050" dirty="0"/>
          </a:p>
        </p:txBody>
      </p:sp>
      <p:sp>
        <p:nvSpPr>
          <p:cNvPr id="35" name="Shape 24"/>
          <p:cNvSpPr/>
          <p:nvPr/>
        </p:nvSpPr>
        <p:spPr>
          <a:xfrm>
            <a:off x="7315200" y="5212080"/>
            <a:ext cx="4572000" cy="1024128"/>
          </a:xfrm>
          <a:prstGeom prst="roundRect">
            <a:avLst>
              <a:gd name="adj" fmla="val 8929"/>
            </a:avLst>
          </a:prstGeom>
          <a:solidFill>
            <a:srgbClr val="112240"/>
          </a:solidFill>
          <a:ln/>
        </p:spPr>
      </p:sp>
      <p:pic>
        <p:nvPicPr>
          <p:cNvPr id="3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98080" y="5468112"/>
            <a:ext cx="457200" cy="457200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8046720" y="527608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&amp; surveillance 24/7</a:t>
            </a:r>
            <a:endParaRPr lang="en-US" sz="1200" dirty="0"/>
          </a:p>
        </p:txBody>
      </p:sp>
      <p:sp>
        <p:nvSpPr>
          <p:cNvPr id="38" name="Text 26"/>
          <p:cNvSpPr/>
          <p:nvPr/>
        </p:nvSpPr>
        <p:spPr>
          <a:xfrm>
            <a:off x="8046720" y="568756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centralisés, alertes auto</a:t>
            </a:r>
            <a:endParaRPr lang="en-US" sz="1050" dirty="0"/>
          </a:p>
        </p:txBody>
      </p:sp>
      <p:sp>
        <p:nvSpPr>
          <p:cNvPr id="39" name="Shape 27"/>
          <p:cNvSpPr/>
          <p:nvPr/>
        </p:nvSpPr>
        <p:spPr>
          <a:xfrm>
            <a:off x="7315200" y="5623560"/>
            <a:ext cx="4572000" cy="1005840"/>
          </a:xfrm>
          <a:prstGeom prst="roundRect">
            <a:avLst>
              <a:gd name="adj" fmla="val 9091"/>
            </a:avLst>
          </a:prstGeom>
          <a:solidFill>
            <a:srgbClr val="0E5FA3"/>
          </a:solidFill>
          <a:ln/>
        </p:spPr>
      </p:sp>
      <p:sp>
        <p:nvSpPr>
          <p:cNvPr id="40" name="Text 28"/>
          <p:cNvSpPr/>
          <p:nvPr/>
        </p:nvSpPr>
        <p:spPr>
          <a:xfrm>
            <a:off x="7406640" y="566928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"La sécurité n'est pas un produit, c'est un processus."</a:t>
            </a:r>
            <a:endParaRPr lang="en-US" sz="1100" dirty="0"/>
          </a:p>
        </p:txBody>
      </p:sp>
      <p:sp>
        <p:nvSpPr>
          <p:cNvPr id="41" name="Text 29"/>
          <p:cNvSpPr/>
          <p:nvPr/>
        </p:nvSpPr>
        <p:spPr>
          <a:xfrm>
            <a:off x="7406640" y="617220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Bruce Schneier, expert en cybersécurité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457200"/>
            <a:ext cx="9144000" cy="9144000"/>
          </a:xfrm>
          <a:prstGeom prst="ellipse">
            <a:avLst/>
          </a:prstGeom>
          <a:solidFill>
            <a:srgbClr val="0D2137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0" y="1097280"/>
            <a:ext cx="6400800" cy="6400800"/>
          </a:xfrm>
          <a:prstGeom prst="ellipse">
            <a:avLst/>
          </a:prstGeom>
          <a:solidFill>
            <a:srgbClr val="0E5FA3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114800" y="1828800"/>
            <a:ext cx="3657600" cy="3657600"/>
          </a:xfrm>
          <a:prstGeom prst="ellipse">
            <a:avLst/>
          </a:prstGeom>
          <a:solidFill>
            <a:srgbClr val="00C2FF">
              <a:alpha val="10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6360" y="274320"/>
            <a:ext cx="1828800" cy="1828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24028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pour votre attention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914400" y="301752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Feres Elloumi  &amp;  Mohammed Smadhi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3493008"/>
            <a:ext cx="10332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BTS Réseaux et Sécurité Informatique — Institut des Nouvelles Technologies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00400" y="3977640"/>
            <a:ext cx="5760720" cy="36576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416052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sommes à votre disposition pour répondre à vos questions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1645920" y="4754880"/>
            <a:ext cx="2743200" cy="1691640"/>
          </a:xfrm>
          <a:prstGeom prst="roundRect">
            <a:avLst>
              <a:gd name="adj" fmla="val 6486"/>
            </a:avLst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1645920" y="4754880"/>
            <a:ext cx="2743200" cy="411480"/>
          </a:xfrm>
          <a:prstGeom prst="rect">
            <a:avLst/>
          </a:prstGeom>
          <a:solidFill>
            <a:srgbClr val="0E5FA3">
              <a:alpha val="8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1645920" y="4754880"/>
            <a:ext cx="2743200" cy="411480"/>
          </a:xfrm>
          <a:prstGeom prst="roundRect">
            <a:avLst>
              <a:gd name="adj" fmla="val 26667"/>
            </a:avLst>
          </a:prstGeom>
          <a:solidFill>
            <a:srgbClr val="0E5FA3">
              <a:alpha val="8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1645920" y="4937760"/>
            <a:ext cx="2743200" cy="228600"/>
          </a:xfrm>
          <a:prstGeom prst="rect">
            <a:avLst/>
          </a:prstGeom>
          <a:solidFill>
            <a:srgbClr val="0E5FA3">
              <a:alpha val="80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1645920" y="47548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Technique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783080" y="5230368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réseau, commandes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IOS, TLS, WPA2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663440" y="4754880"/>
            <a:ext cx="2743200" cy="1691640"/>
          </a:xfrm>
          <a:prstGeom prst="roundRect">
            <a:avLst>
              <a:gd name="adj" fmla="val 6486"/>
            </a:avLst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663440" y="4754880"/>
            <a:ext cx="2743200" cy="411480"/>
          </a:xfrm>
          <a:prstGeom prst="rect">
            <a:avLst/>
          </a:prstGeom>
          <a:solidFill>
            <a:srgbClr val="E63946">
              <a:alpha val="80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4663440" y="4754880"/>
            <a:ext cx="2743200" cy="411480"/>
          </a:xfrm>
          <a:prstGeom prst="roundRect">
            <a:avLst>
              <a:gd name="adj" fmla="val 26667"/>
            </a:avLst>
          </a:prstGeom>
          <a:solidFill>
            <a:srgbClr val="E63946">
              <a:alpha val="80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4663440" y="4937760"/>
            <a:ext cx="2743200" cy="228600"/>
          </a:xfrm>
          <a:prstGeom prst="rect">
            <a:avLst/>
          </a:prstGeom>
          <a:solidFill>
            <a:srgbClr val="E63946">
              <a:alpha val="80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4663440" y="47548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Sécurité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800600" y="5230368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Attaques Wireshark,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vulnérabilités IoT, ACL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7680960" y="4754880"/>
            <a:ext cx="2743200" cy="1691640"/>
          </a:xfrm>
          <a:prstGeom prst="roundRect">
            <a:avLst>
              <a:gd name="adj" fmla="val 6486"/>
            </a:avLst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680960" y="4754880"/>
            <a:ext cx="2743200" cy="411480"/>
          </a:xfrm>
          <a:prstGeom prst="rect">
            <a:avLst/>
          </a:prstGeom>
          <a:solidFill>
            <a:srgbClr val="06D6A0">
              <a:alpha val="80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7680960" y="4754880"/>
            <a:ext cx="2743200" cy="411480"/>
          </a:xfrm>
          <a:prstGeom prst="roundRect">
            <a:avLst>
              <a:gd name="adj" fmla="val 26667"/>
            </a:avLst>
          </a:prstGeom>
          <a:solidFill>
            <a:srgbClr val="06D6A0">
              <a:alpha val="80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7680960" y="4937760"/>
            <a:ext cx="2743200" cy="228600"/>
          </a:xfrm>
          <a:prstGeom prst="rect">
            <a:avLst/>
          </a:prstGeom>
          <a:solidFill>
            <a:srgbClr val="06D6A0">
              <a:alpha val="80000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7680960" y="47548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Perspectives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7818120" y="5230368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IoT, MQTT,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protocoles industriels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2026-06-24T22:35:07Z</dcterms:created>
  <dcterms:modified xsi:type="dcterms:W3CDTF">2026-06-24T22:35:07Z</dcterms:modified>
</cp:coreProperties>
</file>